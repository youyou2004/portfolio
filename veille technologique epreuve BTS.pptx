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4" r:id="rId9"/>
    <p:sldId id="265" r:id="rId10"/>
    <p:sldId id="266" r:id="rId11"/>
  </p:sldIdLst>
  <p:sldSz cx="14630400" cy="8229600"/>
  <p:notesSz cx="8229600" cy="146304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69" d="100"/>
          <a:sy n="69" d="100"/>
        </p:scale>
        <p:origin x="677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microsoft.com/office/2016/11/relationships/changesInfo" Target="changesInfos/changesInfo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youb el mahi" userId="ef4cdfd109f9beba" providerId="LiveId" clId="{AE474805-3800-4D98-BE7B-F1C46B5884E7}"/>
    <pc:docChg chg="custSel modSld">
      <pc:chgData name="ayoub el mahi" userId="ef4cdfd109f9beba" providerId="LiveId" clId="{AE474805-3800-4D98-BE7B-F1C46B5884E7}" dt="2024-04-07T12:36:59.063" v="5" actId="6549"/>
      <pc:docMkLst>
        <pc:docMk/>
      </pc:docMkLst>
      <pc:sldChg chg="delSp modSp mod">
        <pc:chgData name="ayoub el mahi" userId="ef4cdfd109f9beba" providerId="LiveId" clId="{AE474805-3800-4D98-BE7B-F1C46B5884E7}" dt="2024-04-07T12:36:59.063" v="5" actId="6549"/>
        <pc:sldMkLst>
          <pc:docMk/>
          <pc:sldMk cId="0" sldId="256"/>
        </pc:sldMkLst>
        <pc:spChg chg="mod">
          <ac:chgData name="ayoub el mahi" userId="ef4cdfd109f9beba" providerId="LiveId" clId="{AE474805-3800-4D98-BE7B-F1C46B5884E7}" dt="2024-04-07T12:36:55.002" v="3" actId="1076"/>
          <ac:spMkLst>
            <pc:docMk/>
            <pc:sldMk cId="0" sldId="256"/>
            <ac:spMk id="3" creationId="{00000000-0000-0000-0000-000000000000}"/>
          </ac:spMkLst>
        </pc:spChg>
        <pc:spChg chg="del">
          <ac:chgData name="ayoub el mahi" userId="ef4cdfd109f9beba" providerId="LiveId" clId="{AE474805-3800-4D98-BE7B-F1C46B5884E7}" dt="2024-04-07T12:36:56.521" v="4" actId="478"/>
          <ac:spMkLst>
            <pc:docMk/>
            <pc:sldMk cId="0" sldId="256"/>
            <ac:spMk id="7" creationId="{00000000-0000-0000-0000-000000000000}"/>
          </ac:spMkLst>
        </pc:spChg>
        <pc:spChg chg="mod">
          <ac:chgData name="ayoub el mahi" userId="ef4cdfd109f9beba" providerId="LiveId" clId="{AE474805-3800-4D98-BE7B-F1C46B5884E7}" dt="2024-04-07T12:36:59.063" v="5" actId="6549"/>
          <ac:spMkLst>
            <pc:docMk/>
            <pc:sldMk cId="0" sldId="256"/>
            <ac:spMk id="8" creationId="{00000000-0000-0000-0000-000000000000}"/>
          </ac:spMkLst>
        </pc:spChg>
        <pc:spChg chg="del mod">
          <ac:chgData name="ayoub el mahi" userId="ef4cdfd109f9beba" providerId="LiveId" clId="{AE474805-3800-4D98-BE7B-F1C46B5884E7}" dt="2024-04-07T12:36:48.486" v="1" actId="478"/>
          <ac:spMkLst>
            <pc:docMk/>
            <pc:sldMk cId="0" sldId="256"/>
            <ac:spMk id="9" creationId="{00000000-0000-0000-0000-000000000000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8909681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1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www.gartner.com/en/information-technology/insights/top-technology-trends" TargetMode="External"/><Relationship Id="rId5" Type="http://schemas.openxmlformats.org/officeDocument/2006/relationships/hyperlink" Target="https://www.mckinsey.com/industries/healthcare-systems-and-services/our-insights/the-next-wave-of-healthcare-innovation" TargetMode="External"/><Relationship Id="rId4" Type="http://schemas.openxmlformats.org/officeDocument/2006/relationships/hyperlink" Target="https://www.healthcareittoday.com/2022-healthcare-technology-trends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15336"/>
            <a:ext cx="14630400" cy="8229600"/>
          </a:xfrm>
          <a:prstGeom prst="rect">
            <a:avLst/>
          </a:prstGeom>
          <a:solidFill>
            <a:srgbClr val="0A081B">
              <a:alpha val="75000"/>
            </a:srgbClr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4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0" y="0"/>
            <a:ext cx="5486400" cy="8229600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833199" y="1959769"/>
            <a:ext cx="7477601" cy="191643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7545"/>
              </a:lnSpc>
              <a:buNone/>
            </a:pPr>
            <a:r>
              <a:rPr lang="en-US" sz="6036" b="1" dirty="0">
                <a:solidFill>
                  <a:srgbClr val="F0FCFF"/>
                </a:solidFill>
                <a:latin typeface="Spline Sans" pitchFamily="34" charset="0"/>
                <a:ea typeface="Spline Sans" pitchFamily="34" charset="-122"/>
                <a:cs typeface="Spline Sans" pitchFamily="34" charset="-120"/>
              </a:rPr>
              <a:t>Introduction à Vigicare</a:t>
            </a:r>
            <a:endParaRPr lang="en-US" sz="6036" dirty="0"/>
          </a:p>
        </p:txBody>
      </p:sp>
      <p:sp>
        <p:nvSpPr>
          <p:cNvPr id="6" name="Text 2"/>
          <p:cNvSpPr/>
          <p:nvPr/>
        </p:nvSpPr>
        <p:spPr>
          <a:xfrm>
            <a:off x="833199" y="4209455"/>
            <a:ext cx="7477601" cy="142160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2799"/>
              </a:lnSpc>
              <a:buNone/>
            </a:pPr>
            <a:r>
              <a:rPr lang="en-US" sz="1750" dirty="0">
                <a:solidFill>
                  <a:srgbClr val="E0E4E6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 Vigicare est une entreprise pionnière dans le domaine de la santé numérique. Ses solutions innovantes combinent de manière unique les technologies les plus avancées pour offrir des services sur-mesure et améliorer la qualité des soins.</a:t>
            </a:r>
            <a:endParaRPr lang="en-US" sz="1750" dirty="0"/>
          </a:p>
        </p:txBody>
      </p:sp>
      <p:sp>
        <p:nvSpPr>
          <p:cNvPr id="8" name="Text 4"/>
          <p:cNvSpPr/>
          <p:nvPr/>
        </p:nvSpPr>
        <p:spPr>
          <a:xfrm>
            <a:off x="918686" y="6002179"/>
            <a:ext cx="184309" cy="146328"/>
          </a:xfrm>
          <a:prstGeom prst="rect">
            <a:avLst/>
          </a:prstGeom>
          <a:noFill/>
          <a:ln/>
        </p:spPr>
        <p:txBody>
          <a:bodyPr wrap="none" rtlCol="0" anchor="t"/>
          <a:lstStyle/>
          <a:p>
            <a:pPr marL="0" indent="0" algn="ctr">
              <a:lnSpc>
                <a:spcPts val="1152"/>
              </a:lnSpc>
              <a:buNone/>
            </a:pPr>
            <a:endParaRPr lang="en-US" sz="1152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0A081B">
              <a:alpha val="75000"/>
            </a:srgbClr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4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3657600" cy="8229600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4490799" y="925473"/>
            <a:ext cx="9017437" cy="694373"/>
          </a:xfrm>
          <a:prstGeom prst="rect">
            <a:avLst/>
          </a:prstGeom>
          <a:noFill/>
          <a:ln/>
        </p:spPr>
        <p:txBody>
          <a:bodyPr wrap="none" rtlCol="0" anchor="t"/>
          <a:lstStyle/>
          <a:p>
            <a:pPr marL="0" indent="0">
              <a:lnSpc>
                <a:spcPts val="5468"/>
              </a:lnSpc>
              <a:buNone/>
            </a:pPr>
            <a:r>
              <a:rPr lang="en-US" sz="4374" b="1" dirty="0">
                <a:solidFill>
                  <a:srgbClr val="F0FCFF"/>
                </a:solidFill>
                <a:latin typeface="Spline Sans" pitchFamily="34" charset="0"/>
                <a:ea typeface="Spline Sans" pitchFamily="34" charset="-122"/>
                <a:cs typeface="Spline Sans" pitchFamily="34" charset="-120"/>
              </a:rPr>
              <a:t>Veille technologique Vigicare 2022</a:t>
            </a:r>
            <a:endParaRPr lang="en-US" sz="4374" dirty="0"/>
          </a:p>
        </p:txBody>
      </p:sp>
      <p:sp>
        <p:nvSpPr>
          <p:cNvPr id="6" name="Shape 2"/>
          <p:cNvSpPr/>
          <p:nvPr/>
        </p:nvSpPr>
        <p:spPr>
          <a:xfrm>
            <a:off x="4810244" y="1953101"/>
            <a:ext cx="27742" cy="5351026"/>
          </a:xfrm>
          <a:prstGeom prst="rect">
            <a:avLst/>
          </a:prstGeom>
          <a:solidFill>
            <a:srgbClr val="302E41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7" name="Shape 3"/>
          <p:cNvSpPr/>
          <p:nvPr/>
        </p:nvSpPr>
        <p:spPr>
          <a:xfrm>
            <a:off x="5074027" y="2362736"/>
            <a:ext cx="777597" cy="27742"/>
          </a:xfrm>
          <a:prstGeom prst="rect">
            <a:avLst/>
          </a:prstGeom>
          <a:solidFill>
            <a:srgbClr val="16FFBB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8" name="Shape 4"/>
          <p:cNvSpPr/>
          <p:nvPr/>
        </p:nvSpPr>
        <p:spPr>
          <a:xfrm>
            <a:off x="4574084" y="2126694"/>
            <a:ext cx="499943" cy="499943"/>
          </a:xfrm>
          <a:prstGeom prst="roundRect">
            <a:avLst>
              <a:gd name="adj" fmla="val 80001"/>
            </a:avLst>
          </a:prstGeom>
          <a:solidFill>
            <a:srgbClr val="0A081B"/>
          </a:solidFill>
          <a:ln w="22860">
            <a:solidFill>
              <a:srgbClr val="E0E4E6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9" name="Text 5"/>
          <p:cNvSpPr/>
          <p:nvPr/>
        </p:nvSpPr>
        <p:spPr>
          <a:xfrm>
            <a:off x="4751963" y="2168366"/>
            <a:ext cx="144185" cy="416481"/>
          </a:xfrm>
          <a:prstGeom prst="rect">
            <a:avLst/>
          </a:prstGeom>
          <a:noFill/>
          <a:ln/>
        </p:spPr>
        <p:txBody>
          <a:bodyPr wrap="none" rtlCol="0" anchor="t"/>
          <a:lstStyle/>
          <a:p>
            <a:pPr marL="0" indent="0" algn="ctr">
              <a:lnSpc>
                <a:spcPts val="3281"/>
              </a:lnSpc>
              <a:buNone/>
            </a:pPr>
            <a:r>
              <a:rPr lang="en-US" sz="2624" b="1" dirty="0">
                <a:solidFill>
                  <a:srgbClr val="16FFBB"/>
                </a:solidFill>
                <a:latin typeface="Spline Sans" pitchFamily="34" charset="0"/>
                <a:ea typeface="Spline Sans" pitchFamily="34" charset="-122"/>
                <a:cs typeface="Spline Sans" pitchFamily="34" charset="-120"/>
              </a:rPr>
              <a:t>1</a:t>
            </a:r>
            <a:endParaRPr lang="en-US" sz="2624" dirty="0"/>
          </a:p>
        </p:txBody>
      </p:sp>
      <p:sp>
        <p:nvSpPr>
          <p:cNvPr id="10" name="Text 6"/>
          <p:cNvSpPr/>
          <p:nvPr/>
        </p:nvSpPr>
        <p:spPr>
          <a:xfrm>
            <a:off x="6046113" y="2175272"/>
            <a:ext cx="3258503" cy="347186"/>
          </a:xfrm>
          <a:prstGeom prst="rect">
            <a:avLst/>
          </a:prstGeom>
          <a:noFill/>
          <a:ln/>
        </p:spPr>
        <p:txBody>
          <a:bodyPr wrap="none" rtlCol="0" anchor="t"/>
          <a:lstStyle/>
          <a:p>
            <a:pPr marL="0" indent="0" algn="l">
              <a:lnSpc>
                <a:spcPts val="2734"/>
              </a:lnSpc>
              <a:buNone/>
            </a:pPr>
            <a:r>
              <a:rPr lang="en-US" sz="2187" b="1" dirty="0">
                <a:solidFill>
                  <a:srgbClr val="16FFBB"/>
                </a:solidFill>
                <a:latin typeface="Spline Sans" pitchFamily="34" charset="0"/>
                <a:ea typeface="Spline Sans" pitchFamily="34" charset="-122"/>
                <a:cs typeface="Spline Sans" pitchFamily="34" charset="-120"/>
              </a:rPr>
              <a:t>IA et Analyse de Données</a:t>
            </a:r>
            <a:endParaRPr lang="en-US" sz="2187" dirty="0"/>
          </a:p>
        </p:txBody>
      </p:sp>
      <p:sp>
        <p:nvSpPr>
          <p:cNvPr id="11" name="Text 7"/>
          <p:cNvSpPr/>
          <p:nvPr/>
        </p:nvSpPr>
        <p:spPr>
          <a:xfrm>
            <a:off x="6046113" y="2655689"/>
            <a:ext cx="7751088" cy="71080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ts val="2799"/>
              </a:lnSpc>
              <a:buNone/>
            </a:pPr>
            <a:r>
              <a:rPr lang="en-US" sz="1750" dirty="0">
                <a:solidFill>
                  <a:srgbClr val="E0E4E6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Vigicare a investi dans des outils d'IA et d'analyse prédictive pour améliorer le diagnostic et le suivi des patients.</a:t>
            </a:r>
            <a:endParaRPr lang="en-US" sz="1750" dirty="0"/>
          </a:p>
        </p:txBody>
      </p:sp>
      <p:sp>
        <p:nvSpPr>
          <p:cNvPr id="12" name="Shape 8"/>
          <p:cNvSpPr/>
          <p:nvPr/>
        </p:nvSpPr>
        <p:spPr>
          <a:xfrm>
            <a:off x="5074027" y="4220468"/>
            <a:ext cx="777597" cy="27742"/>
          </a:xfrm>
          <a:prstGeom prst="rect">
            <a:avLst/>
          </a:prstGeom>
          <a:solidFill>
            <a:srgbClr val="29DDDA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3" name="Shape 9"/>
          <p:cNvSpPr/>
          <p:nvPr/>
        </p:nvSpPr>
        <p:spPr>
          <a:xfrm>
            <a:off x="4574084" y="3984427"/>
            <a:ext cx="499943" cy="499943"/>
          </a:xfrm>
          <a:prstGeom prst="roundRect">
            <a:avLst>
              <a:gd name="adj" fmla="val 80001"/>
            </a:avLst>
          </a:prstGeom>
          <a:solidFill>
            <a:srgbClr val="0A081B"/>
          </a:solidFill>
          <a:ln w="22860">
            <a:solidFill>
              <a:srgbClr val="E0E4E6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4" name="Text 10"/>
          <p:cNvSpPr/>
          <p:nvPr/>
        </p:nvSpPr>
        <p:spPr>
          <a:xfrm>
            <a:off x="4731365" y="4026098"/>
            <a:ext cx="185380" cy="416481"/>
          </a:xfrm>
          <a:prstGeom prst="rect">
            <a:avLst/>
          </a:prstGeom>
          <a:noFill/>
          <a:ln/>
        </p:spPr>
        <p:txBody>
          <a:bodyPr wrap="none" rtlCol="0" anchor="t"/>
          <a:lstStyle/>
          <a:p>
            <a:pPr marL="0" indent="0" algn="ctr">
              <a:lnSpc>
                <a:spcPts val="3281"/>
              </a:lnSpc>
              <a:buNone/>
            </a:pPr>
            <a:r>
              <a:rPr lang="en-US" sz="2624" b="1" dirty="0">
                <a:solidFill>
                  <a:srgbClr val="29DDDA"/>
                </a:solidFill>
                <a:latin typeface="Spline Sans" pitchFamily="34" charset="0"/>
                <a:ea typeface="Spline Sans" pitchFamily="34" charset="-122"/>
                <a:cs typeface="Spline Sans" pitchFamily="34" charset="-120"/>
              </a:rPr>
              <a:t>2</a:t>
            </a:r>
            <a:endParaRPr lang="en-US" sz="2624" dirty="0"/>
          </a:p>
        </p:txBody>
      </p:sp>
      <p:sp>
        <p:nvSpPr>
          <p:cNvPr id="15" name="Text 11"/>
          <p:cNvSpPr/>
          <p:nvPr/>
        </p:nvSpPr>
        <p:spPr>
          <a:xfrm>
            <a:off x="6046113" y="4033004"/>
            <a:ext cx="2777490" cy="347186"/>
          </a:xfrm>
          <a:prstGeom prst="rect">
            <a:avLst/>
          </a:prstGeom>
          <a:noFill/>
          <a:ln/>
        </p:spPr>
        <p:txBody>
          <a:bodyPr wrap="none" rtlCol="0" anchor="t"/>
          <a:lstStyle/>
          <a:p>
            <a:pPr marL="0" indent="0" algn="l">
              <a:lnSpc>
                <a:spcPts val="2734"/>
              </a:lnSpc>
              <a:buNone/>
            </a:pPr>
            <a:r>
              <a:rPr lang="en-US" sz="2187" b="1" dirty="0">
                <a:solidFill>
                  <a:srgbClr val="29DDDA"/>
                </a:solidFill>
                <a:latin typeface="Spline Sans" pitchFamily="34" charset="0"/>
                <a:ea typeface="Spline Sans" pitchFamily="34" charset="-122"/>
                <a:cs typeface="Spline Sans" pitchFamily="34" charset="-120"/>
              </a:rPr>
              <a:t>Télémédecine</a:t>
            </a:r>
            <a:endParaRPr lang="en-US" sz="2187" dirty="0"/>
          </a:p>
        </p:txBody>
      </p:sp>
      <p:sp>
        <p:nvSpPr>
          <p:cNvPr id="16" name="Text 12"/>
          <p:cNvSpPr/>
          <p:nvPr/>
        </p:nvSpPr>
        <p:spPr>
          <a:xfrm>
            <a:off x="6046113" y="4513421"/>
            <a:ext cx="7751088" cy="71080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ts val="2799"/>
              </a:lnSpc>
              <a:buNone/>
            </a:pPr>
            <a:r>
              <a:rPr lang="en-US" sz="1750" dirty="0">
                <a:solidFill>
                  <a:srgbClr val="E0E4E6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La plateforme de téléconsultation de Vigicare a connu un fort développement, permettant aux patients d'accéder à des soins à distance.</a:t>
            </a:r>
            <a:endParaRPr lang="en-US" sz="1750" dirty="0"/>
          </a:p>
        </p:txBody>
      </p:sp>
      <p:sp>
        <p:nvSpPr>
          <p:cNvPr id="17" name="Shape 13"/>
          <p:cNvSpPr/>
          <p:nvPr/>
        </p:nvSpPr>
        <p:spPr>
          <a:xfrm>
            <a:off x="5074027" y="6078200"/>
            <a:ext cx="777597" cy="27742"/>
          </a:xfrm>
          <a:prstGeom prst="rect">
            <a:avLst/>
          </a:prstGeom>
          <a:solidFill>
            <a:srgbClr val="37A7E7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8" name="Shape 14"/>
          <p:cNvSpPr/>
          <p:nvPr/>
        </p:nvSpPr>
        <p:spPr>
          <a:xfrm>
            <a:off x="4574084" y="5842159"/>
            <a:ext cx="499943" cy="499943"/>
          </a:xfrm>
          <a:prstGeom prst="roundRect">
            <a:avLst>
              <a:gd name="adj" fmla="val 80001"/>
            </a:avLst>
          </a:prstGeom>
          <a:solidFill>
            <a:srgbClr val="0A081B"/>
          </a:solidFill>
          <a:ln w="22860">
            <a:solidFill>
              <a:srgbClr val="E0E4E6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9" name="Text 15"/>
          <p:cNvSpPr/>
          <p:nvPr/>
        </p:nvSpPr>
        <p:spPr>
          <a:xfrm>
            <a:off x="4726484" y="5883831"/>
            <a:ext cx="195143" cy="416481"/>
          </a:xfrm>
          <a:prstGeom prst="rect">
            <a:avLst/>
          </a:prstGeom>
          <a:noFill/>
          <a:ln/>
        </p:spPr>
        <p:txBody>
          <a:bodyPr wrap="none" rtlCol="0" anchor="t"/>
          <a:lstStyle/>
          <a:p>
            <a:pPr marL="0" indent="0" algn="ctr">
              <a:lnSpc>
                <a:spcPts val="3281"/>
              </a:lnSpc>
              <a:buNone/>
            </a:pPr>
            <a:r>
              <a:rPr lang="en-US" sz="2624" b="1" dirty="0">
                <a:solidFill>
                  <a:srgbClr val="37A7E7"/>
                </a:solidFill>
                <a:latin typeface="Spline Sans" pitchFamily="34" charset="0"/>
                <a:ea typeface="Spline Sans" pitchFamily="34" charset="-122"/>
                <a:cs typeface="Spline Sans" pitchFamily="34" charset="-120"/>
              </a:rPr>
              <a:t>3</a:t>
            </a:r>
            <a:endParaRPr lang="en-US" sz="2624" dirty="0"/>
          </a:p>
        </p:txBody>
      </p:sp>
      <p:sp>
        <p:nvSpPr>
          <p:cNvPr id="20" name="Text 16"/>
          <p:cNvSpPr/>
          <p:nvPr/>
        </p:nvSpPr>
        <p:spPr>
          <a:xfrm>
            <a:off x="6046113" y="5890736"/>
            <a:ext cx="2777490" cy="347186"/>
          </a:xfrm>
          <a:prstGeom prst="rect">
            <a:avLst/>
          </a:prstGeom>
          <a:noFill/>
          <a:ln/>
        </p:spPr>
        <p:txBody>
          <a:bodyPr wrap="none" rtlCol="0" anchor="t"/>
          <a:lstStyle/>
          <a:p>
            <a:pPr marL="0" indent="0" algn="l">
              <a:lnSpc>
                <a:spcPts val="2734"/>
              </a:lnSpc>
              <a:buNone/>
            </a:pPr>
            <a:r>
              <a:rPr lang="en-US" sz="2187" b="1" dirty="0">
                <a:solidFill>
                  <a:srgbClr val="37A7E7"/>
                </a:solidFill>
                <a:latin typeface="Spline Sans" pitchFamily="34" charset="0"/>
                <a:ea typeface="Spline Sans" pitchFamily="34" charset="-122"/>
                <a:cs typeface="Spline Sans" pitchFamily="34" charset="-120"/>
              </a:rPr>
              <a:t>IoT Médical</a:t>
            </a:r>
            <a:endParaRPr lang="en-US" sz="2187" dirty="0"/>
          </a:p>
        </p:txBody>
      </p:sp>
      <p:sp>
        <p:nvSpPr>
          <p:cNvPr id="21" name="Text 17"/>
          <p:cNvSpPr/>
          <p:nvPr/>
        </p:nvSpPr>
        <p:spPr>
          <a:xfrm>
            <a:off x="6046113" y="6371153"/>
            <a:ext cx="7751088" cy="71080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ts val="2799"/>
              </a:lnSpc>
              <a:buNone/>
            </a:pPr>
            <a:r>
              <a:rPr lang="en-US" sz="1750" dirty="0">
                <a:solidFill>
                  <a:srgbClr val="E0E4E6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Vigicare a intégré des dispositifs connectés dans ses solutions pour un meilleur suivi des paramètres de santé.</a:t>
            </a:r>
            <a:endParaRPr lang="en-US" sz="17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0A081B">
              <a:alpha val="75000"/>
            </a:srgbClr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4" name="Text 1"/>
          <p:cNvSpPr/>
          <p:nvPr/>
        </p:nvSpPr>
        <p:spPr>
          <a:xfrm>
            <a:off x="2624376" y="2216706"/>
            <a:ext cx="9026366" cy="694373"/>
          </a:xfrm>
          <a:prstGeom prst="rect">
            <a:avLst/>
          </a:prstGeom>
          <a:noFill/>
          <a:ln/>
        </p:spPr>
        <p:txBody>
          <a:bodyPr wrap="none" rtlCol="0" anchor="t"/>
          <a:lstStyle/>
          <a:p>
            <a:pPr marL="0" indent="0">
              <a:lnSpc>
                <a:spcPts val="5468"/>
              </a:lnSpc>
              <a:buNone/>
            </a:pPr>
            <a:r>
              <a:rPr lang="en-US" sz="4374" b="1" dirty="0">
                <a:solidFill>
                  <a:srgbClr val="F0FCFF"/>
                </a:solidFill>
                <a:latin typeface="Spline Sans" pitchFamily="34" charset="0"/>
                <a:ea typeface="Spline Sans" pitchFamily="34" charset="-122"/>
                <a:cs typeface="Spline Sans" pitchFamily="34" charset="-120"/>
              </a:rPr>
              <a:t>Veille technologique Vigicare 2023</a:t>
            </a:r>
            <a:endParaRPr lang="en-US" sz="4374" dirty="0"/>
          </a:p>
        </p:txBody>
      </p:sp>
      <p:sp>
        <p:nvSpPr>
          <p:cNvPr id="5" name="Text 2"/>
          <p:cNvSpPr/>
          <p:nvPr/>
        </p:nvSpPr>
        <p:spPr>
          <a:xfrm>
            <a:off x="2624376" y="3466505"/>
            <a:ext cx="2765465" cy="347186"/>
          </a:xfrm>
          <a:prstGeom prst="rect">
            <a:avLst/>
          </a:prstGeom>
          <a:noFill/>
          <a:ln/>
        </p:spPr>
        <p:txBody>
          <a:bodyPr wrap="none" rtlCol="0" anchor="t"/>
          <a:lstStyle/>
          <a:p>
            <a:pPr marL="0" indent="0">
              <a:lnSpc>
                <a:spcPts val="2734"/>
              </a:lnSpc>
              <a:buNone/>
            </a:pPr>
            <a:r>
              <a:rPr lang="en-US" sz="2187" b="1" dirty="0">
                <a:solidFill>
                  <a:srgbClr val="F0FCFF"/>
                </a:solidFill>
                <a:latin typeface="Spline Sans" pitchFamily="34" charset="0"/>
                <a:ea typeface="Spline Sans" pitchFamily="34" charset="-122"/>
                <a:cs typeface="Spline Sans" pitchFamily="34" charset="-120"/>
              </a:rPr>
              <a:t>Blockchain</a:t>
            </a:r>
            <a:endParaRPr lang="en-US" sz="2187" dirty="0"/>
          </a:p>
        </p:txBody>
      </p:sp>
      <p:sp>
        <p:nvSpPr>
          <p:cNvPr id="6" name="Text 3"/>
          <p:cNvSpPr/>
          <p:nvPr/>
        </p:nvSpPr>
        <p:spPr>
          <a:xfrm>
            <a:off x="2624376" y="4035862"/>
            <a:ext cx="2765465" cy="142160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2799"/>
              </a:lnSpc>
              <a:buNone/>
            </a:pPr>
            <a:r>
              <a:rPr lang="en-US" sz="1750" dirty="0">
                <a:solidFill>
                  <a:srgbClr val="E0E4E6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Vigicare explore l'utilisation de la blockchain pour sécuriser les données de santé des patients.</a:t>
            </a:r>
            <a:endParaRPr lang="en-US" sz="1750" dirty="0"/>
          </a:p>
        </p:txBody>
      </p:sp>
      <p:sp>
        <p:nvSpPr>
          <p:cNvPr id="7" name="Text 4"/>
          <p:cNvSpPr/>
          <p:nvPr/>
        </p:nvSpPr>
        <p:spPr>
          <a:xfrm>
            <a:off x="5939433" y="3466505"/>
            <a:ext cx="2765465" cy="347186"/>
          </a:xfrm>
          <a:prstGeom prst="rect">
            <a:avLst/>
          </a:prstGeom>
          <a:noFill/>
          <a:ln/>
        </p:spPr>
        <p:txBody>
          <a:bodyPr wrap="none" rtlCol="0" anchor="t"/>
          <a:lstStyle/>
          <a:p>
            <a:pPr marL="0" indent="0">
              <a:lnSpc>
                <a:spcPts val="2734"/>
              </a:lnSpc>
              <a:buNone/>
            </a:pPr>
            <a:r>
              <a:rPr lang="en-US" sz="2187" b="1" dirty="0">
                <a:solidFill>
                  <a:srgbClr val="F0FCFF"/>
                </a:solidFill>
                <a:latin typeface="Spline Sans" pitchFamily="34" charset="0"/>
                <a:ea typeface="Spline Sans" pitchFamily="34" charset="-122"/>
                <a:cs typeface="Spline Sans" pitchFamily="34" charset="-120"/>
              </a:rPr>
              <a:t>Réalité Augmentée</a:t>
            </a:r>
            <a:endParaRPr lang="en-US" sz="2187" dirty="0"/>
          </a:p>
        </p:txBody>
      </p:sp>
      <p:sp>
        <p:nvSpPr>
          <p:cNvPr id="8" name="Text 5"/>
          <p:cNvSpPr/>
          <p:nvPr/>
        </p:nvSpPr>
        <p:spPr>
          <a:xfrm>
            <a:off x="5939433" y="4035862"/>
            <a:ext cx="2765465" cy="17770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2799"/>
              </a:lnSpc>
              <a:buNone/>
            </a:pPr>
            <a:r>
              <a:rPr lang="en-US" sz="1750" dirty="0">
                <a:solidFill>
                  <a:srgbClr val="E0E4E6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Des applications de réalité augmentée sont développées pour assister les professionnels de santé dans leurs actes médicaux.</a:t>
            </a:r>
            <a:endParaRPr lang="en-US" sz="1750" dirty="0"/>
          </a:p>
        </p:txBody>
      </p:sp>
      <p:sp>
        <p:nvSpPr>
          <p:cNvPr id="9" name="Text 6"/>
          <p:cNvSpPr/>
          <p:nvPr/>
        </p:nvSpPr>
        <p:spPr>
          <a:xfrm>
            <a:off x="9254490" y="3466505"/>
            <a:ext cx="2765465" cy="69437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2734"/>
              </a:lnSpc>
              <a:buNone/>
            </a:pPr>
            <a:r>
              <a:rPr lang="en-US" sz="2187" b="1" dirty="0">
                <a:solidFill>
                  <a:srgbClr val="F0FCFF"/>
                </a:solidFill>
                <a:latin typeface="Spline Sans" pitchFamily="34" charset="0"/>
                <a:ea typeface="Spline Sans" pitchFamily="34" charset="-122"/>
                <a:cs typeface="Spline Sans" pitchFamily="34" charset="-120"/>
              </a:rPr>
              <a:t>Médecine Personnalisée</a:t>
            </a:r>
            <a:endParaRPr lang="en-US" sz="2187" dirty="0"/>
          </a:p>
        </p:txBody>
      </p:sp>
      <p:sp>
        <p:nvSpPr>
          <p:cNvPr id="10" name="Text 7"/>
          <p:cNvSpPr/>
          <p:nvPr/>
        </p:nvSpPr>
        <p:spPr>
          <a:xfrm>
            <a:off x="9254490" y="4383048"/>
            <a:ext cx="2765465" cy="142160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2799"/>
              </a:lnSpc>
              <a:buNone/>
            </a:pPr>
            <a:r>
              <a:rPr lang="en-US" sz="1750" dirty="0">
                <a:solidFill>
                  <a:srgbClr val="E0E4E6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Vigicare s'appuie sur des technologies de pointe pour offrir des solutions de santé sur-mesure.</a:t>
            </a:r>
            <a:endParaRPr lang="en-US" sz="17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0A081B">
              <a:alpha val="75000"/>
            </a:srgbClr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4" name="Text 1"/>
          <p:cNvSpPr/>
          <p:nvPr/>
        </p:nvSpPr>
        <p:spPr>
          <a:xfrm>
            <a:off x="2624376" y="1993940"/>
            <a:ext cx="9048869" cy="694373"/>
          </a:xfrm>
          <a:prstGeom prst="rect">
            <a:avLst/>
          </a:prstGeom>
          <a:noFill/>
          <a:ln/>
        </p:spPr>
        <p:txBody>
          <a:bodyPr wrap="none" rtlCol="0" anchor="t"/>
          <a:lstStyle/>
          <a:p>
            <a:pPr marL="0" indent="0">
              <a:lnSpc>
                <a:spcPts val="5468"/>
              </a:lnSpc>
              <a:buNone/>
            </a:pPr>
            <a:r>
              <a:rPr lang="en-US" sz="4374" b="1" dirty="0">
                <a:solidFill>
                  <a:srgbClr val="F0FCFF"/>
                </a:solidFill>
                <a:latin typeface="Spline Sans" pitchFamily="34" charset="0"/>
                <a:ea typeface="Spline Sans" pitchFamily="34" charset="-122"/>
                <a:cs typeface="Spline Sans" pitchFamily="34" charset="-120"/>
              </a:rPr>
              <a:t>Veille technologique Vigicare 2024</a:t>
            </a:r>
            <a:endParaRPr lang="en-US" sz="4374" dirty="0"/>
          </a:p>
        </p:txBody>
      </p:sp>
      <p:sp>
        <p:nvSpPr>
          <p:cNvPr id="5" name="Shape 2"/>
          <p:cNvSpPr/>
          <p:nvPr/>
        </p:nvSpPr>
        <p:spPr>
          <a:xfrm>
            <a:off x="2624376" y="3132653"/>
            <a:ext cx="2979063" cy="3102888"/>
          </a:xfrm>
          <a:prstGeom prst="roundRect">
            <a:avLst>
              <a:gd name="adj" fmla="val 13426"/>
            </a:avLst>
          </a:prstGeom>
          <a:solidFill>
            <a:srgbClr val="0A081B"/>
          </a:solidFill>
          <a:ln w="22860">
            <a:solidFill>
              <a:srgbClr val="E0E4E6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6" name="Text 3"/>
          <p:cNvSpPr/>
          <p:nvPr/>
        </p:nvSpPr>
        <p:spPr>
          <a:xfrm>
            <a:off x="2869406" y="3377684"/>
            <a:ext cx="2489002" cy="347186"/>
          </a:xfrm>
          <a:prstGeom prst="rect">
            <a:avLst/>
          </a:prstGeom>
          <a:noFill/>
          <a:ln/>
        </p:spPr>
        <p:txBody>
          <a:bodyPr wrap="none" rtlCol="0" anchor="t"/>
          <a:lstStyle/>
          <a:p>
            <a:pPr marL="0" indent="0">
              <a:lnSpc>
                <a:spcPts val="2734"/>
              </a:lnSpc>
              <a:buNone/>
            </a:pPr>
            <a:r>
              <a:rPr lang="en-US" sz="2187" b="1" dirty="0">
                <a:solidFill>
                  <a:srgbClr val="16FFBB"/>
                </a:solidFill>
                <a:latin typeface="Spline Sans" pitchFamily="34" charset="0"/>
                <a:ea typeface="Spline Sans" pitchFamily="34" charset="-122"/>
                <a:cs typeface="Spline Sans" pitchFamily="34" charset="-120"/>
              </a:rPr>
              <a:t>Santé Connectée</a:t>
            </a:r>
            <a:endParaRPr lang="en-US" sz="2187" dirty="0"/>
          </a:p>
        </p:txBody>
      </p:sp>
      <p:sp>
        <p:nvSpPr>
          <p:cNvPr id="7" name="Text 4"/>
          <p:cNvSpPr/>
          <p:nvPr/>
        </p:nvSpPr>
        <p:spPr>
          <a:xfrm>
            <a:off x="2869406" y="3858101"/>
            <a:ext cx="2489002" cy="2132409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2799"/>
              </a:lnSpc>
              <a:buNone/>
            </a:pPr>
            <a:r>
              <a:rPr lang="en-US" sz="1750" dirty="0">
                <a:solidFill>
                  <a:srgbClr val="E0E4E6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Vigicare explore la combinaison de technologies de pointe pour développer des solutions de santé connectée innovantes.</a:t>
            </a:r>
            <a:endParaRPr lang="en-US" sz="1750" dirty="0"/>
          </a:p>
        </p:txBody>
      </p:sp>
      <p:sp>
        <p:nvSpPr>
          <p:cNvPr id="8" name="Shape 5"/>
          <p:cNvSpPr/>
          <p:nvPr/>
        </p:nvSpPr>
        <p:spPr>
          <a:xfrm>
            <a:off x="5825609" y="3132653"/>
            <a:ext cx="2979063" cy="3102888"/>
          </a:xfrm>
          <a:prstGeom prst="roundRect">
            <a:avLst>
              <a:gd name="adj" fmla="val 13426"/>
            </a:avLst>
          </a:prstGeom>
          <a:solidFill>
            <a:srgbClr val="0A081B"/>
          </a:solidFill>
          <a:ln w="22860">
            <a:solidFill>
              <a:srgbClr val="E0E4E6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9" name="Text 6"/>
          <p:cNvSpPr/>
          <p:nvPr/>
        </p:nvSpPr>
        <p:spPr>
          <a:xfrm>
            <a:off x="6070640" y="3377684"/>
            <a:ext cx="2489002" cy="69437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2734"/>
              </a:lnSpc>
              <a:buNone/>
            </a:pPr>
            <a:r>
              <a:rPr lang="en-US" sz="2187" b="1" dirty="0">
                <a:solidFill>
                  <a:srgbClr val="29DDDA"/>
                </a:solidFill>
                <a:latin typeface="Spline Sans" pitchFamily="34" charset="0"/>
                <a:ea typeface="Spline Sans" pitchFamily="34" charset="-122"/>
                <a:cs typeface="Spline Sans" pitchFamily="34" charset="-120"/>
              </a:rPr>
              <a:t>Robotique Médicale</a:t>
            </a:r>
            <a:endParaRPr lang="en-US" sz="2187" dirty="0"/>
          </a:p>
        </p:txBody>
      </p:sp>
      <p:sp>
        <p:nvSpPr>
          <p:cNvPr id="10" name="Text 7"/>
          <p:cNvSpPr/>
          <p:nvPr/>
        </p:nvSpPr>
        <p:spPr>
          <a:xfrm>
            <a:off x="6070640" y="4205288"/>
            <a:ext cx="2489002" cy="17770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2799"/>
              </a:lnSpc>
              <a:buNone/>
            </a:pPr>
            <a:r>
              <a:rPr lang="en-US" sz="1750" dirty="0">
                <a:solidFill>
                  <a:srgbClr val="E0E4E6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La robotique est intégrée pour assister les professionnels de santé dans les tâches critiques et répétitives.</a:t>
            </a:r>
            <a:endParaRPr lang="en-US" sz="1750" dirty="0"/>
          </a:p>
        </p:txBody>
      </p:sp>
      <p:sp>
        <p:nvSpPr>
          <p:cNvPr id="11" name="Shape 8"/>
          <p:cNvSpPr/>
          <p:nvPr/>
        </p:nvSpPr>
        <p:spPr>
          <a:xfrm>
            <a:off x="9026843" y="3132653"/>
            <a:ext cx="2979063" cy="3658440"/>
          </a:xfrm>
          <a:prstGeom prst="roundRect">
            <a:avLst>
              <a:gd name="adj" fmla="val 13426"/>
            </a:avLst>
          </a:prstGeom>
          <a:solidFill>
            <a:srgbClr val="0A081B"/>
          </a:solidFill>
          <a:ln w="22860">
            <a:solidFill>
              <a:srgbClr val="E0E4E6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2" name="Text 9"/>
          <p:cNvSpPr/>
          <p:nvPr/>
        </p:nvSpPr>
        <p:spPr>
          <a:xfrm>
            <a:off x="9271873" y="3377684"/>
            <a:ext cx="2489002" cy="69437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2734"/>
              </a:lnSpc>
              <a:buNone/>
            </a:pPr>
            <a:r>
              <a:rPr lang="en-US" sz="2187" b="1" dirty="0">
                <a:solidFill>
                  <a:srgbClr val="37A7E7"/>
                </a:solidFill>
                <a:latin typeface="Spline Sans" pitchFamily="34" charset="0"/>
                <a:ea typeface="Spline Sans" pitchFamily="34" charset="-122"/>
                <a:cs typeface="Spline Sans" pitchFamily="34" charset="-120"/>
              </a:rPr>
              <a:t>Technologies de Prédiction</a:t>
            </a:r>
            <a:endParaRPr lang="en-US" sz="2187" dirty="0"/>
          </a:p>
        </p:txBody>
      </p:sp>
      <p:sp>
        <p:nvSpPr>
          <p:cNvPr id="13" name="Text 10"/>
          <p:cNvSpPr/>
          <p:nvPr/>
        </p:nvSpPr>
        <p:spPr>
          <a:xfrm>
            <a:off x="9271873" y="4205288"/>
            <a:ext cx="2489002" cy="17770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2799"/>
              </a:lnSpc>
              <a:buNone/>
            </a:pPr>
            <a:r>
              <a:rPr lang="en-US" sz="1750" dirty="0">
                <a:solidFill>
                  <a:srgbClr val="E0E4E6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Vigicare investit dans des outils d'analyse prédictive pour anticiper les besoins des patients et des professionnels de santé.</a:t>
            </a:r>
            <a:endParaRPr lang="en-US" sz="17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0A081B">
              <a:alpha val="75000"/>
            </a:srgbClr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4" name="Text 1"/>
          <p:cNvSpPr/>
          <p:nvPr/>
        </p:nvSpPr>
        <p:spPr>
          <a:xfrm>
            <a:off x="3135273" y="545544"/>
            <a:ext cx="8359854" cy="123729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4872"/>
              </a:lnSpc>
              <a:buNone/>
            </a:pPr>
            <a:r>
              <a:rPr lang="en-US" sz="3898" b="1" dirty="0">
                <a:solidFill>
                  <a:srgbClr val="F0FCFF"/>
                </a:solidFill>
                <a:latin typeface="Spline Sans" pitchFamily="34" charset="0"/>
                <a:ea typeface="Spline Sans" pitchFamily="34" charset="-122"/>
                <a:cs typeface="Spline Sans" pitchFamily="34" charset="-120"/>
              </a:rPr>
              <a:t>Différences entre Vigicare 2022, 2023 et 2024</a:t>
            </a:r>
            <a:endParaRPr lang="en-US" sz="3898" dirty="0"/>
          </a:p>
        </p:txBody>
      </p:sp>
      <p:sp>
        <p:nvSpPr>
          <p:cNvPr id="5" name="Text 2"/>
          <p:cNvSpPr/>
          <p:nvPr/>
        </p:nvSpPr>
        <p:spPr>
          <a:xfrm>
            <a:off x="3135273" y="2277666"/>
            <a:ext cx="1727716" cy="123729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2436"/>
              </a:lnSpc>
              <a:buNone/>
            </a:pPr>
            <a:r>
              <a:rPr lang="en-US" sz="1949" b="1" dirty="0">
                <a:solidFill>
                  <a:srgbClr val="F0FCFF"/>
                </a:solidFill>
                <a:latin typeface="Spline Sans" pitchFamily="34" charset="0"/>
                <a:ea typeface="Spline Sans" pitchFamily="34" charset="-122"/>
                <a:cs typeface="Spline Sans" pitchFamily="34" charset="-120"/>
              </a:rPr>
              <a:t>Intelligence Artificielle et Analyse de Données</a:t>
            </a:r>
            <a:endParaRPr lang="en-US" sz="1949" dirty="0"/>
          </a:p>
        </p:txBody>
      </p:sp>
      <p:sp>
        <p:nvSpPr>
          <p:cNvPr id="6" name="Text 3"/>
          <p:cNvSpPr/>
          <p:nvPr/>
        </p:nvSpPr>
        <p:spPr>
          <a:xfrm>
            <a:off x="3135273" y="3712845"/>
            <a:ext cx="1727716" cy="22169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2494"/>
              </a:lnSpc>
              <a:buNone/>
            </a:pPr>
            <a:r>
              <a:rPr lang="en-US" sz="1559" dirty="0">
                <a:solidFill>
                  <a:srgbClr val="E0E4E6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En 2022, Vigicare a mis l'accent sur l'IA et l'analyse prédictive pour améliorer le diagnostic et le suivi des patients.</a:t>
            </a:r>
            <a:endParaRPr lang="en-US" sz="1559" dirty="0"/>
          </a:p>
        </p:txBody>
      </p:sp>
      <p:sp>
        <p:nvSpPr>
          <p:cNvPr id="7" name="Text 4"/>
          <p:cNvSpPr/>
          <p:nvPr/>
        </p:nvSpPr>
        <p:spPr>
          <a:xfrm>
            <a:off x="5353526" y="2277666"/>
            <a:ext cx="1727716" cy="92797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2436"/>
              </a:lnSpc>
              <a:buNone/>
            </a:pPr>
            <a:r>
              <a:rPr lang="en-US" sz="1949" b="1" dirty="0">
                <a:solidFill>
                  <a:srgbClr val="F0FCFF"/>
                </a:solidFill>
                <a:latin typeface="Spline Sans" pitchFamily="34" charset="0"/>
                <a:ea typeface="Spline Sans" pitchFamily="34" charset="-122"/>
                <a:cs typeface="Spline Sans" pitchFamily="34" charset="-120"/>
              </a:rPr>
              <a:t>Blockchain et Santé Connectée</a:t>
            </a:r>
            <a:endParaRPr lang="en-US" sz="1949" dirty="0"/>
          </a:p>
        </p:txBody>
      </p:sp>
      <p:sp>
        <p:nvSpPr>
          <p:cNvPr id="8" name="Text 5"/>
          <p:cNvSpPr/>
          <p:nvPr/>
        </p:nvSpPr>
        <p:spPr>
          <a:xfrm>
            <a:off x="5353526" y="3403521"/>
            <a:ext cx="1727716" cy="316706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2494"/>
              </a:lnSpc>
              <a:buNone/>
            </a:pPr>
            <a:r>
              <a:rPr lang="en-US" sz="1559" dirty="0">
                <a:solidFill>
                  <a:srgbClr val="E0E4E6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En 2023, l'exploration de la blockchain pour sécuriser les données de santé a été une priorité, tandis qu'en 2024, Vigicare s'est concentré sur la santé connectée.</a:t>
            </a:r>
            <a:endParaRPr lang="en-US" sz="1559" dirty="0"/>
          </a:p>
        </p:txBody>
      </p:sp>
      <p:sp>
        <p:nvSpPr>
          <p:cNvPr id="9" name="Text 6"/>
          <p:cNvSpPr/>
          <p:nvPr/>
        </p:nvSpPr>
        <p:spPr>
          <a:xfrm>
            <a:off x="7571780" y="2277666"/>
            <a:ext cx="1727716" cy="123729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2436"/>
              </a:lnSpc>
              <a:buNone/>
            </a:pPr>
            <a:r>
              <a:rPr lang="en-US" sz="1949" b="1" dirty="0">
                <a:solidFill>
                  <a:srgbClr val="F0FCFF"/>
                </a:solidFill>
                <a:latin typeface="Spline Sans" pitchFamily="34" charset="0"/>
                <a:ea typeface="Spline Sans" pitchFamily="34" charset="-122"/>
                <a:cs typeface="Spline Sans" pitchFamily="34" charset="-120"/>
              </a:rPr>
              <a:t>Réalité Augmentée et Robotique Médicale</a:t>
            </a:r>
            <a:endParaRPr lang="en-US" sz="1949" dirty="0"/>
          </a:p>
        </p:txBody>
      </p:sp>
      <p:sp>
        <p:nvSpPr>
          <p:cNvPr id="10" name="Text 7"/>
          <p:cNvSpPr/>
          <p:nvPr/>
        </p:nvSpPr>
        <p:spPr>
          <a:xfrm>
            <a:off x="7571780" y="3712845"/>
            <a:ext cx="1727716" cy="316706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2494"/>
              </a:lnSpc>
              <a:buNone/>
            </a:pPr>
            <a:r>
              <a:rPr lang="en-US" sz="1559" dirty="0">
                <a:solidFill>
                  <a:srgbClr val="E0E4E6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La réalité augmentée a été développée en 2023 pour assister les professionnels de santé, et la robotique médicale a été intégrée en 2024 pour les tâches critiques.</a:t>
            </a:r>
            <a:endParaRPr lang="en-US" sz="1559" dirty="0"/>
          </a:p>
        </p:txBody>
      </p:sp>
      <p:sp>
        <p:nvSpPr>
          <p:cNvPr id="11" name="Text 8"/>
          <p:cNvSpPr/>
          <p:nvPr/>
        </p:nvSpPr>
        <p:spPr>
          <a:xfrm>
            <a:off x="9790033" y="2277666"/>
            <a:ext cx="1727716" cy="154662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2436"/>
              </a:lnSpc>
              <a:buNone/>
            </a:pPr>
            <a:r>
              <a:rPr lang="en-US" sz="1949" b="1" dirty="0">
                <a:solidFill>
                  <a:srgbClr val="F0FCFF"/>
                </a:solidFill>
                <a:latin typeface="Spline Sans" pitchFamily="34" charset="0"/>
                <a:ea typeface="Spline Sans" pitchFamily="34" charset="-122"/>
                <a:cs typeface="Spline Sans" pitchFamily="34" charset="-120"/>
              </a:rPr>
              <a:t>Médecine Personnalisée et Technologies de Prédiction</a:t>
            </a:r>
            <a:endParaRPr lang="en-US" sz="1949" dirty="0"/>
          </a:p>
        </p:txBody>
      </p:sp>
      <p:sp>
        <p:nvSpPr>
          <p:cNvPr id="12" name="Text 9"/>
          <p:cNvSpPr/>
          <p:nvPr/>
        </p:nvSpPr>
        <p:spPr>
          <a:xfrm>
            <a:off x="9790033" y="4022169"/>
            <a:ext cx="1727716" cy="3483769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2494"/>
              </a:lnSpc>
              <a:buNone/>
            </a:pPr>
            <a:r>
              <a:rPr lang="en-US" sz="1559" dirty="0">
                <a:solidFill>
                  <a:srgbClr val="E0E4E6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En 2023, la médecine personnalisée était une priorité, tandis qu'en 2024, Vigicare a investi dans des outils d'analyse prédictive pour anticiper les besoins des patients.</a:t>
            </a:r>
            <a:endParaRPr lang="en-US" sz="1559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0A081B">
              <a:alpha val="75000"/>
            </a:srgbClr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4" name="Text 1"/>
          <p:cNvSpPr/>
          <p:nvPr/>
        </p:nvSpPr>
        <p:spPr>
          <a:xfrm>
            <a:off x="2624376" y="1637824"/>
            <a:ext cx="8437007" cy="694373"/>
          </a:xfrm>
          <a:prstGeom prst="rect">
            <a:avLst/>
          </a:prstGeom>
          <a:noFill/>
          <a:ln/>
        </p:spPr>
        <p:txBody>
          <a:bodyPr wrap="none" rtlCol="0" anchor="t"/>
          <a:lstStyle/>
          <a:p>
            <a:pPr marL="0" indent="0">
              <a:lnSpc>
                <a:spcPts val="5468"/>
              </a:lnSpc>
              <a:buNone/>
            </a:pPr>
            <a:r>
              <a:rPr lang="en-US" sz="4374" b="1" dirty="0">
                <a:solidFill>
                  <a:srgbClr val="F0FCFF"/>
                </a:solidFill>
                <a:latin typeface="Spline Sans" pitchFamily="34" charset="0"/>
                <a:ea typeface="Spline Sans" pitchFamily="34" charset="-122"/>
                <a:cs typeface="Spline Sans" pitchFamily="34" charset="-120"/>
              </a:rPr>
              <a:t>Innovations technologiques clés</a:t>
            </a:r>
            <a:endParaRPr lang="en-US" sz="4374" dirty="0"/>
          </a:p>
        </p:txBody>
      </p:sp>
      <p:sp>
        <p:nvSpPr>
          <p:cNvPr id="5" name="Shape 2"/>
          <p:cNvSpPr/>
          <p:nvPr/>
        </p:nvSpPr>
        <p:spPr>
          <a:xfrm>
            <a:off x="2624376" y="2950131"/>
            <a:ext cx="499943" cy="499943"/>
          </a:xfrm>
          <a:prstGeom prst="roundRect">
            <a:avLst>
              <a:gd name="adj" fmla="val 80001"/>
            </a:avLst>
          </a:prstGeom>
          <a:solidFill>
            <a:srgbClr val="0A081B"/>
          </a:solidFill>
          <a:ln w="22860">
            <a:solidFill>
              <a:srgbClr val="E0E4E6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6" name="Text 3"/>
          <p:cNvSpPr/>
          <p:nvPr/>
        </p:nvSpPr>
        <p:spPr>
          <a:xfrm>
            <a:off x="2802255" y="2991803"/>
            <a:ext cx="144185" cy="416481"/>
          </a:xfrm>
          <a:prstGeom prst="rect">
            <a:avLst/>
          </a:prstGeom>
          <a:noFill/>
          <a:ln/>
        </p:spPr>
        <p:txBody>
          <a:bodyPr wrap="none" rtlCol="0" anchor="t"/>
          <a:lstStyle/>
          <a:p>
            <a:pPr marL="0" indent="0" algn="ctr">
              <a:lnSpc>
                <a:spcPts val="3281"/>
              </a:lnSpc>
              <a:buNone/>
            </a:pPr>
            <a:r>
              <a:rPr lang="en-US" sz="2624" b="1" dirty="0">
                <a:solidFill>
                  <a:srgbClr val="16FFBB"/>
                </a:solidFill>
                <a:latin typeface="Spline Sans" pitchFamily="34" charset="0"/>
                <a:ea typeface="Spline Sans" pitchFamily="34" charset="-122"/>
                <a:cs typeface="Spline Sans" pitchFamily="34" charset="-120"/>
              </a:rPr>
              <a:t>1</a:t>
            </a:r>
            <a:endParaRPr lang="en-US" sz="2624" dirty="0"/>
          </a:p>
        </p:txBody>
      </p:sp>
      <p:sp>
        <p:nvSpPr>
          <p:cNvPr id="7" name="Text 4"/>
          <p:cNvSpPr/>
          <p:nvPr/>
        </p:nvSpPr>
        <p:spPr>
          <a:xfrm>
            <a:off x="3346490" y="3026450"/>
            <a:ext cx="2777490" cy="347186"/>
          </a:xfrm>
          <a:prstGeom prst="rect">
            <a:avLst/>
          </a:prstGeom>
          <a:noFill/>
          <a:ln/>
        </p:spPr>
        <p:txBody>
          <a:bodyPr wrap="none" rtlCol="0" anchor="t"/>
          <a:lstStyle/>
          <a:p>
            <a:pPr marL="0" indent="0">
              <a:lnSpc>
                <a:spcPts val="2734"/>
              </a:lnSpc>
              <a:buNone/>
            </a:pPr>
            <a:r>
              <a:rPr lang="en-US" sz="2187" b="1" dirty="0">
                <a:solidFill>
                  <a:srgbClr val="16FFBB"/>
                </a:solidFill>
                <a:latin typeface="Spline Sans" pitchFamily="34" charset="0"/>
                <a:ea typeface="Spline Sans" pitchFamily="34" charset="-122"/>
                <a:cs typeface="Spline Sans" pitchFamily="34" charset="-120"/>
              </a:rPr>
              <a:t>Plateforme Intégrée</a:t>
            </a:r>
            <a:endParaRPr lang="en-US" sz="2187" dirty="0"/>
          </a:p>
        </p:txBody>
      </p:sp>
      <p:sp>
        <p:nvSpPr>
          <p:cNvPr id="8" name="Text 5"/>
          <p:cNvSpPr/>
          <p:nvPr/>
        </p:nvSpPr>
        <p:spPr>
          <a:xfrm>
            <a:off x="3346490" y="3506867"/>
            <a:ext cx="3857625" cy="106620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2799"/>
              </a:lnSpc>
              <a:buNone/>
            </a:pPr>
            <a:r>
              <a:rPr lang="en-US" sz="1750" dirty="0">
                <a:solidFill>
                  <a:srgbClr val="E0E4E6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Vigicare a développé une plateforme unique combinant des outils de suivi, de diagnostic et de traitement.</a:t>
            </a:r>
            <a:endParaRPr lang="en-US" sz="1750" dirty="0"/>
          </a:p>
        </p:txBody>
      </p:sp>
      <p:sp>
        <p:nvSpPr>
          <p:cNvPr id="9" name="Shape 6"/>
          <p:cNvSpPr/>
          <p:nvPr/>
        </p:nvSpPr>
        <p:spPr>
          <a:xfrm>
            <a:off x="7426285" y="2950131"/>
            <a:ext cx="499943" cy="499943"/>
          </a:xfrm>
          <a:prstGeom prst="roundRect">
            <a:avLst>
              <a:gd name="adj" fmla="val 80001"/>
            </a:avLst>
          </a:prstGeom>
          <a:solidFill>
            <a:srgbClr val="0A081B"/>
          </a:solidFill>
          <a:ln w="22860">
            <a:solidFill>
              <a:srgbClr val="E0E4E6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Text 7"/>
          <p:cNvSpPr/>
          <p:nvPr/>
        </p:nvSpPr>
        <p:spPr>
          <a:xfrm>
            <a:off x="7583567" y="2991803"/>
            <a:ext cx="185380" cy="416481"/>
          </a:xfrm>
          <a:prstGeom prst="rect">
            <a:avLst/>
          </a:prstGeom>
          <a:noFill/>
          <a:ln/>
        </p:spPr>
        <p:txBody>
          <a:bodyPr wrap="none" rtlCol="0" anchor="t"/>
          <a:lstStyle/>
          <a:p>
            <a:pPr marL="0" indent="0" algn="ctr">
              <a:lnSpc>
                <a:spcPts val="3281"/>
              </a:lnSpc>
              <a:buNone/>
            </a:pPr>
            <a:r>
              <a:rPr lang="en-US" sz="2624" b="1" dirty="0">
                <a:solidFill>
                  <a:srgbClr val="29DDDA"/>
                </a:solidFill>
                <a:latin typeface="Spline Sans" pitchFamily="34" charset="0"/>
                <a:ea typeface="Spline Sans" pitchFamily="34" charset="-122"/>
                <a:cs typeface="Spline Sans" pitchFamily="34" charset="-120"/>
              </a:rPr>
              <a:t>2</a:t>
            </a:r>
            <a:endParaRPr lang="en-US" sz="2624" dirty="0"/>
          </a:p>
        </p:txBody>
      </p:sp>
      <p:sp>
        <p:nvSpPr>
          <p:cNvPr id="11" name="Text 8"/>
          <p:cNvSpPr/>
          <p:nvPr/>
        </p:nvSpPr>
        <p:spPr>
          <a:xfrm>
            <a:off x="8148399" y="3026450"/>
            <a:ext cx="2777490" cy="347186"/>
          </a:xfrm>
          <a:prstGeom prst="rect">
            <a:avLst/>
          </a:prstGeom>
          <a:noFill/>
          <a:ln/>
        </p:spPr>
        <p:txBody>
          <a:bodyPr wrap="none" rtlCol="0" anchor="t"/>
          <a:lstStyle/>
          <a:p>
            <a:pPr marL="0" indent="0">
              <a:lnSpc>
                <a:spcPts val="2734"/>
              </a:lnSpc>
              <a:buNone/>
            </a:pPr>
            <a:r>
              <a:rPr lang="en-US" sz="2187" b="1" dirty="0">
                <a:solidFill>
                  <a:srgbClr val="29DDDA"/>
                </a:solidFill>
                <a:latin typeface="Spline Sans" pitchFamily="34" charset="0"/>
                <a:ea typeface="Spline Sans" pitchFamily="34" charset="-122"/>
                <a:cs typeface="Spline Sans" pitchFamily="34" charset="-120"/>
              </a:rPr>
              <a:t>Analyse de Données</a:t>
            </a:r>
            <a:endParaRPr lang="en-US" sz="2187" dirty="0"/>
          </a:p>
        </p:txBody>
      </p:sp>
      <p:sp>
        <p:nvSpPr>
          <p:cNvPr id="12" name="Text 9"/>
          <p:cNvSpPr/>
          <p:nvPr/>
        </p:nvSpPr>
        <p:spPr>
          <a:xfrm>
            <a:off x="8148399" y="3506867"/>
            <a:ext cx="3857625" cy="106620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2799"/>
              </a:lnSpc>
              <a:buNone/>
            </a:pPr>
            <a:r>
              <a:rPr lang="en-US" sz="1750" dirty="0">
                <a:solidFill>
                  <a:srgbClr val="E0E4E6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Des algorithmes d'IA permettent une analyse approfondie des données de santé pour des diagnostics plus précis.</a:t>
            </a:r>
            <a:endParaRPr lang="en-US" sz="1750" dirty="0"/>
          </a:p>
        </p:txBody>
      </p:sp>
      <p:sp>
        <p:nvSpPr>
          <p:cNvPr id="13" name="Shape 10"/>
          <p:cNvSpPr/>
          <p:nvPr/>
        </p:nvSpPr>
        <p:spPr>
          <a:xfrm>
            <a:off x="2624376" y="4968835"/>
            <a:ext cx="499943" cy="499943"/>
          </a:xfrm>
          <a:prstGeom prst="roundRect">
            <a:avLst>
              <a:gd name="adj" fmla="val 80001"/>
            </a:avLst>
          </a:prstGeom>
          <a:solidFill>
            <a:srgbClr val="0A081B"/>
          </a:solidFill>
          <a:ln w="22860">
            <a:solidFill>
              <a:srgbClr val="E0E4E6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4" name="Text 11"/>
          <p:cNvSpPr/>
          <p:nvPr/>
        </p:nvSpPr>
        <p:spPr>
          <a:xfrm>
            <a:off x="2776776" y="5010507"/>
            <a:ext cx="195143" cy="416481"/>
          </a:xfrm>
          <a:prstGeom prst="rect">
            <a:avLst/>
          </a:prstGeom>
          <a:noFill/>
          <a:ln/>
        </p:spPr>
        <p:txBody>
          <a:bodyPr wrap="none" rtlCol="0" anchor="t"/>
          <a:lstStyle/>
          <a:p>
            <a:pPr marL="0" indent="0" algn="ctr">
              <a:lnSpc>
                <a:spcPts val="3281"/>
              </a:lnSpc>
              <a:buNone/>
            </a:pPr>
            <a:r>
              <a:rPr lang="en-US" sz="2624" b="1" dirty="0">
                <a:solidFill>
                  <a:srgbClr val="37A7E7"/>
                </a:solidFill>
                <a:latin typeface="Spline Sans" pitchFamily="34" charset="0"/>
                <a:ea typeface="Spline Sans" pitchFamily="34" charset="-122"/>
                <a:cs typeface="Spline Sans" pitchFamily="34" charset="-120"/>
              </a:rPr>
              <a:t>3</a:t>
            </a:r>
            <a:endParaRPr lang="en-US" sz="2624" dirty="0"/>
          </a:p>
        </p:txBody>
      </p:sp>
      <p:sp>
        <p:nvSpPr>
          <p:cNvPr id="15" name="Text 12"/>
          <p:cNvSpPr/>
          <p:nvPr/>
        </p:nvSpPr>
        <p:spPr>
          <a:xfrm>
            <a:off x="3346490" y="5045154"/>
            <a:ext cx="2777490" cy="347186"/>
          </a:xfrm>
          <a:prstGeom prst="rect">
            <a:avLst/>
          </a:prstGeom>
          <a:noFill/>
          <a:ln/>
        </p:spPr>
        <p:txBody>
          <a:bodyPr wrap="none" rtlCol="0" anchor="t"/>
          <a:lstStyle/>
          <a:p>
            <a:pPr marL="0" indent="0">
              <a:lnSpc>
                <a:spcPts val="2734"/>
              </a:lnSpc>
              <a:buNone/>
            </a:pPr>
            <a:r>
              <a:rPr lang="en-US" sz="2187" b="1" dirty="0">
                <a:solidFill>
                  <a:srgbClr val="37A7E7"/>
                </a:solidFill>
                <a:latin typeface="Spline Sans" pitchFamily="34" charset="0"/>
                <a:ea typeface="Spline Sans" pitchFamily="34" charset="-122"/>
                <a:cs typeface="Spline Sans" pitchFamily="34" charset="-120"/>
              </a:rPr>
              <a:t>Expérience Patient</a:t>
            </a:r>
            <a:endParaRPr lang="en-US" sz="2187" dirty="0"/>
          </a:p>
        </p:txBody>
      </p:sp>
      <p:sp>
        <p:nvSpPr>
          <p:cNvPr id="16" name="Text 13"/>
          <p:cNvSpPr/>
          <p:nvPr/>
        </p:nvSpPr>
        <p:spPr>
          <a:xfrm>
            <a:off x="3346490" y="5525572"/>
            <a:ext cx="3857625" cy="106620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2799"/>
              </a:lnSpc>
              <a:buNone/>
            </a:pPr>
            <a:r>
              <a:rPr lang="en-US" sz="1750" dirty="0">
                <a:solidFill>
                  <a:srgbClr val="E0E4E6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Les solutions Vigicare visent à offrir une expérience patient intuitive et personnalisée.</a:t>
            </a:r>
            <a:endParaRPr lang="en-US" sz="1750" dirty="0"/>
          </a:p>
        </p:txBody>
      </p:sp>
      <p:sp>
        <p:nvSpPr>
          <p:cNvPr id="17" name="Shape 14"/>
          <p:cNvSpPr/>
          <p:nvPr/>
        </p:nvSpPr>
        <p:spPr>
          <a:xfrm>
            <a:off x="7426285" y="4968835"/>
            <a:ext cx="499943" cy="499943"/>
          </a:xfrm>
          <a:prstGeom prst="roundRect">
            <a:avLst>
              <a:gd name="adj" fmla="val 80001"/>
            </a:avLst>
          </a:prstGeom>
          <a:solidFill>
            <a:srgbClr val="0A081B"/>
          </a:solidFill>
          <a:ln w="22860">
            <a:solidFill>
              <a:srgbClr val="E0E4E6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8" name="Text 15"/>
          <p:cNvSpPr/>
          <p:nvPr/>
        </p:nvSpPr>
        <p:spPr>
          <a:xfrm>
            <a:off x="7582019" y="5010507"/>
            <a:ext cx="188357" cy="416481"/>
          </a:xfrm>
          <a:prstGeom prst="rect">
            <a:avLst/>
          </a:prstGeom>
          <a:noFill/>
          <a:ln/>
        </p:spPr>
        <p:txBody>
          <a:bodyPr wrap="none" rtlCol="0" anchor="t"/>
          <a:lstStyle/>
          <a:p>
            <a:pPr marL="0" indent="0" algn="ctr">
              <a:lnSpc>
                <a:spcPts val="3281"/>
              </a:lnSpc>
              <a:buNone/>
            </a:pPr>
            <a:r>
              <a:rPr lang="en-US" sz="2624" b="1" dirty="0">
                <a:solidFill>
                  <a:srgbClr val="5372DF"/>
                </a:solidFill>
                <a:latin typeface="Spline Sans" pitchFamily="34" charset="0"/>
                <a:ea typeface="Spline Sans" pitchFamily="34" charset="-122"/>
                <a:cs typeface="Spline Sans" pitchFamily="34" charset="-120"/>
              </a:rPr>
              <a:t>4</a:t>
            </a:r>
            <a:endParaRPr lang="en-US" sz="2624" dirty="0"/>
          </a:p>
        </p:txBody>
      </p:sp>
      <p:sp>
        <p:nvSpPr>
          <p:cNvPr id="19" name="Text 16"/>
          <p:cNvSpPr/>
          <p:nvPr/>
        </p:nvSpPr>
        <p:spPr>
          <a:xfrm>
            <a:off x="8148399" y="5045154"/>
            <a:ext cx="2777490" cy="347186"/>
          </a:xfrm>
          <a:prstGeom prst="rect">
            <a:avLst/>
          </a:prstGeom>
          <a:noFill/>
          <a:ln/>
        </p:spPr>
        <p:txBody>
          <a:bodyPr wrap="none" rtlCol="0" anchor="t"/>
          <a:lstStyle/>
          <a:p>
            <a:pPr marL="0" indent="0">
              <a:lnSpc>
                <a:spcPts val="2734"/>
              </a:lnSpc>
              <a:buNone/>
            </a:pPr>
            <a:r>
              <a:rPr lang="en-US" sz="2187" b="1" dirty="0">
                <a:solidFill>
                  <a:srgbClr val="5372DF"/>
                </a:solidFill>
                <a:latin typeface="Spline Sans" pitchFamily="34" charset="0"/>
                <a:ea typeface="Spline Sans" pitchFamily="34" charset="-122"/>
                <a:cs typeface="Spline Sans" pitchFamily="34" charset="-120"/>
              </a:rPr>
              <a:t>Interopérabilité</a:t>
            </a:r>
            <a:endParaRPr lang="en-US" sz="2187" dirty="0"/>
          </a:p>
        </p:txBody>
      </p:sp>
      <p:sp>
        <p:nvSpPr>
          <p:cNvPr id="20" name="Text 17"/>
          <p:cNvSpPr/>
          <p:nvPr/>
        </p:nvSpPr>
        <p:spPr>
          <a:xfrm>
            <a:off x="8148399" y="5525572"/>
            <a:ext cx="3857625" cy="106620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2799"/>
              </a:lnSpc>
              <a:buNone/>
            </a:pPr>
            <a:r>
              <a:rPr lang="en-US" sz="1750" dirty="0">
                <a:solidFill>
                  <a:srgbClr val="E0E4E6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Les produits Vigicare s'intègrent facilement aux systèmes existants pour une prise en charge fluide.</a:t>
            </a:r>
            <a:endParaRPr lang="en-US" sz="17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0A081B">
              <a:alpha val="75000"/>
            </a:srgbClr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4" name="Text 1"/>
          <p:cNvSpPr/>
          <p:nvPr/>
        </p:nvSpPr>
        <p:spPr>
          <a:xfrm>
            <a:off x="2624376" y="1397675"/>
            <a:ext cx="5697855" cy="694373"/>
          </a:xfrm>
          <a:prstGeom prst="rect">
            <a:avLst/>
          </a:prstGeom>
          <a:noFill/>
          <a:ln/>
        </p:spPr>
        <p:txBody>
          <a:bodyPr wrap="none" rtlCol="0" anchor="t"/>
          <a:lstStyle/>
          <a:p>
            <a:pPr marL="0" indent="0">
              <a:lnSpc>
                <a:spcPts val="5468"/>
              </a:lnSpc>
              <a:buNone/>
            </a:pPr>
            <a:r>
              <a:rPr lang="en-US" sz="4374" b="1" dirty="0">
                <a:solidFill>
                  <a:srgbClr val="F0FCFF"/>
                </a:solidFill>
                <a:latin typeface="Spline Sans" pitchFamily="34" charset="0"/>
                <a:ea typeface="Spline Sans" pitchFamily="34" charset="-122"/>
                <a:cs typeface="Spline Sans" pitchFamily="34" charset="-120"/>
              </a:rPr>
              <a:t>Tendances du secteur</a:t>
            </a:r>
            <a:endParaRPr lang="en-US" sz="4374" dirty="0"/>
          </a:p>
        </p:txBody>
      </p:sp>
      <p:sp>
        <p:nvSpPr>
          <p:cNvPr id="5" name="Shape 2"/>
          <p:cNvSpPr/>
          <p:nvPr/>
        </p:nvSpPr>
        <p:spPr>
          <a:xfrm>
            <a:off x="2624376" y="2536388"/>
            <a:ext cx="4579739" cy="2036683"/>
          </a:xfrm>
          <a:prstGeom prst="roundRect">
            <a:avLst>
              <a:gd name="adj" fmla="val 19638"/>
            </a:avLst>
          </a:prstGeom>
          <a:solidFill>
            <a:srgbClr val="0A081B"/>
          </a:solidFill>
          <a:ln w="22860">
            <a:solidFill>
              <a:srgbClr val="E0E4E6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6" name="Text 3"/>
          <p:cNvSpPr/>
          <p:nvPr/>
        </p:nvSpPr>
        <p:spPr>
          <a:xfrm>
            <a:off x="2869406" y="2781419"/>
            <a:ext cx="2777490" cy="347186"/>
          </a:xfrm>
          <a:prstGeom prst="rect">
            <a:avLst/>
          </a:prstGeom>
          <a:noFill/>
          <a:ln/>
        </p:spPr>
        <p:txBody>
          <a:bodyPr wrap="none" rtlCol="0" anchor="t"/>
          <a:lstStyle/>
          <a:p>
            <a:pPr marL="0" indent="0">
              <a:lnSpc>
                <a:spcPts val="2734"/>
              </a:lnSpc>
              <a:buNone/>
            </a:pPr>
            <a:r>
              <a:rPr lang="en-US" sz="2187" b="1" dirty="0">
                <a:solidFill>
                  <a:srgbClr val="16FFBB"/>
                </a:solidFill>
                <a:latin typeface="Spline Sans" pitchFamily="34" charset="0"/>
                <a:ea typeface="Spline Sans" pitchFamily="34" charset="-122"/>
                <a:cs typeface="Spline Sans" pitchFamily="34" charset="-120"/>
              </a:rPr>
              <a:t>Soins à Domicile</a:t>
            </a:r>
            <a:endParaRPr lang="en-US" sz="2187" dirty="0"/>
          </a:p>
        </p:txBody>
      </p:sp>
      <p:sp>
        <p:nvSpPr>
          <p:cNvPr id="7" name="Text 4"/>
          <p:cNvSpPr/>
          <p:nvPr/>
        </p:nvSpPr>
        <p:spPr>
          <a:xfrm>
            <a:off x="2869406" y="3261836"/>
            <a:ext cx="4089678" cy="106620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2799"/>
              </a:lnSpc>
              <a:buNone/>
            </a:pPr>
            <a:r>
              <a:rPr lang="en-US" sz="1750" dirty="0">
                <a:solidFill>
                  <a:srgbClr val="E0E4E6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La demande pour des solutions de santé à distance et à domicile ne cesse d'augmenter.</a:t>
            </a:r>
            <a:endParaRPr lang="en-US" sz="1750" dirty="0"/>
          </a:p>
        </p:txBody>
      </p:sp>
      <p:sp>
        <p:nvSpPr>
          <p:cNvPr id="8" name="Shape 5"/>
          <p:cNvSpPr/>
          <p:nvPr/>
        </p:nvSpPr>
        <p:spPr>
          <a:xfrm>
            <a:off x="7426285" y="2536388"/>
            <a:ext cx="4579739" cy="2036683"/>
          </a:xfrm>
          <a:prstGeom prst="roundRect">
            <a:avLst>
              <a:gd name="adj" fmla="val 19638"/>
            </a:avLst>
          </a:prstGeom>
          <a:solidFill>
            <a:srgbClr val="0A081B"/>
          </a:solidFill>
          <a:ln w="22860">
            <a:solidFill>
              <a:srgbClr val="E0E4E6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9" name="Text 6"/>
          <p:cNvSpPr/>
          <p:nvPr/>
        </p:nvSpPr>
        <p:spPr>
          <a:xfrm>
            <a:off x="7671316" y="2781419"/>
            <a:ext cx="2777490" cy="347186"/>
          </a:xfrm>
          <a:prstGeom prst="rect">
            <a:avLst/>
          </a:prstGeom>
          <a:noFill/>
          <a:ln/>
        </p:spPr>
        <p:txBody>
          <a:bodyPr wrap="none" rtlCol="0" anchor="t"/>
          <a:lstStyle/>
          <a:p>
            <a:pPr marL="0" indent="0">
              <a:lnSpc>
                <a:spcPts val="2734"/>
              </a:lnSpc>
              <a:buNone/>
            </a:pPr>
            <a:r>
              <a:rPr lang="en-US" sz="2187" b="1" dirty="0">
                <a:solidFill>
                  <a:srgbClr val="29DDDA"/>
                </a:solidFill>
                <a:latin typeface="Spline Sans" pitchFamily="34" charset="0"/>
                <a:ea typeface="Spline Sans" pitchFamily="34" charset="-122"/>
                <a:cs typeface="Spline Sans" pitchFamily="34" charset="-120"/>
              </a:rPr>
              <a:t>Prévention</a:t>
            </a:r>
            <a:endParaRPr lang="en-US" sz="2187" dirty="0"/>
          </a:p>
        </p:txBody>
      </p:sp>
      <p:sp>
        <p:nvSpPr>
          <p:cNvPr id="10" name="Text 7"/>
          <p:cNvSpPr/>
          <p:nvPr/>
        </p:nvSpPr>
        <p:spPr>
          <a:xfrm>
            <a:off x="7671316" y="3261836"/>
            <a:ext cx="4089678" cy="106620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2799"/>
              </a:lnSpc>
              <a:buNone/>
            </a:pPr>
            <a:r>
              <a:rPr lang="en-US" sz="1750" dirty="0">
                <a:solidFill>
                  <a:srgbClr val="E0E4E6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Les patients s'intéressent davantage à la prévention et au bien-être grâce aux technologies connectées.</a:t>
            </a:r>
            <a:endParaRPr lang="en-US" sz="1750" dirty="0"/>
          </a:p>
        </p:txBody>
      </p:sp>
      <p:sp>
        <p:nvSpPr>
          <p:cNvPr id="11" name="Shape 8"/>
          <p:cNvSpPr/>
          <p:nvPr/>
        </p:nvSpPr>
        <p:spPr>
          <a:xfrm>
            <a:off x="2624376" y="4795242"/>
            <a:ext cx="4579739" cy="2036683"/>
          </a:xfrm>
          <a:prstGeom prst="roundRect">
            <a:avLst>
              <a:gd name="adj" fmla="val 19638"/>
            </a:avLst>
          </a:prstGeom>
          <a:solidFill>
            <a:srgbClr val="0A081B"/>
          </a:solidFill>
          <a:ln w="22860">
            <a:solidFill>
              <a:srgbClr val="E0E4E6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2" name="Text 9"/>
          <p:cNvSpPr/>
          <p:nvPr/>
        </p:nvSpPr>
        <p:spPr>
          <a:xfrm>
            <a:off x="2869406" y="5040273"/>
            <a:ext cx="2884646" cy="347186"/>
          </a:xfrm>
          <a:prstGeom prst="rect">
            <a:avLst/>
          </a:prstGeom>
          <a:noFill/>
          <a:ln/>
        </p:spPr>
        <p:txBody>
          <a:bodyPr wrap="none" rtlCol="0" anchor="t"/>
          <a:lstStyle/>
          <a:p>
            <a:pPr marL="0" indent="0">
              <a:lnSpc>
                <a:spcPts val="2734"/>
              </a:lnSpc>
              <a:buNone/>
            </a:pPr>
            <a:r>
              <a:rPr lang="en-US" sz="2187" b="1" dirty="0">
                <a:solidFill>
                  <a:srgbClr val="37A7E7"/>
                </a:solidFill>
                <a:latin typeface="Spline Sans" pitchFamily="34" charset="0"/>
                <a:ea typeface="Spline Sans" pitchFamily="34" charset="-122"/>
                <a:cs typeface="Spline Sans" pitchFamily="34" charset="-120"/>
              </a:rPr>
              <a:t>Expérience Utilisateur</a:t>
            </a:r>
            <a:endParaRPr lang="en-US" sz="2187" dirty="0"/>
          </a:p>
        </p:txBody>
      </p:sp>
      <p:sp>
        <p:nvSpPr>
          <p:cNvPr id="13" name="Text 10"/>
          <p:cNvSpPr/>
          <p:nvPr/>
        </p:nvSpPr>
        <p:spPr>
          <a:xfrm>
            <a:off x="2869406" y="5520690"/>
            <a:ext cx="4089678" cy="106620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2799"/>
              </a:lnSpc>
              <a:buNone/>
            </a:pPr>
            <a:r>
              <a:rPr lang="en-US" sz="1750" dirty="0">
                <a:solidFill>
                  <a:srgbClr val="E0E4E6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L'accent est mis sur l'amélioration de l'expérience des patients et des professionnels de santé.</a:t>
            </a:r>
            <a:endParaRPr lang="en-US" sz="1750" dirty="0"/>
          </a:p>
        </p:txBody>
      </p:sp>
      <p:sp>
        <p:nvSpPr>
          <p:cNvPr id="14" name="Shape 11"/>
          <p:cNvSpPr/>
          <p:nvPr/>
        </p:nvSpPr>
        <p:spPr>
          <a:xfrm>
            <a:off x="7426285" y="4795242"/>
            <a:ext cx="4579739" cy="2036683"/>
          </a:xfrm>
          <a:prstGeom prst="roundRect">
            <a:avLst>
              <a:gd name="adj" fmla="val 19638"/>
            </a:avLst>
          </a:prstGeom>
          <a:solidFill>
            <a:srgbClr val="0A081B"/>
          </a:solidFill>
          <a:ln w="22860">
            <a:solidFill>
              <a:srgbClr val="E0E4E6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5" name="Text 12"/>
          <p:cNvSpPr/>
          <p:nvPr/>
        </p:nvSpPr>
        <p:spPr>
          <a:xfrm>
            <a:off x="7671316" y="5040273"/>
            <a:ext cx="2777490" cy="347186"/>
          </a:xfrm>
          <a:prstGeom prst="rect">
            <a:avLst/>
          </a:prstGeom>
          <a:noFill/>
          <a:ln/>
        </p:spPr>
        <p:txBody>
          <a:bodyPr wrap="none" rtlCol="0" anchor="t"/>
          <a:lstStyle/>
          <a:p>
            <a:pPr marL="0" indent="0">
              <a:lnSpc>
                <a:spcPts val="2734"/>
              </a:lnSpc>
              <a:buNone/>
            </a:pPr>
            <a:r>
              <a:rPr lang="en-US" sz="2187" b="1" dirty="0">
                <a:solidFill>
                  <a:srgbClr val="5372DF"/>
                </a:solidFill>
                <a:latin typeface="Spline Sans" pitchFamily="34" charset="0"/>
                <a:ea typeface="Spline Sans" pitchFamily="34" charset="-122"/>
                <a:cs typeface="Spline Sans" pitchFamily="34" charset="-120"/>
              </a:rPr>
              <a:t>Analyse de Données</a:t>
            </a:r>
            <a:endParaRPr lang="en-US" sz="2187" dirty="0"/>
          </a:p>
        </p:txBody>
      </p:sp>
      <p:sp>
        <p:nvSpPr>
          <p:cNvPr id="16" name="Text 13"/>
          <p:cNvSpPr/>
          <p:nvPr/>
        </p:nvSpPr>
        <p:spPr>
          <a:xfrm>
            <a:off x="7671316" y="5520690"/>
            <a:ext cx="4089678" cy="106620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2799"/>
              </a:lnSpc>
              <a:buNone/>
            </a:pPr>
            <a:r>
              <a:rPr lang="en-US" sz="1750" dirty="0">
                <a:solidFill>
                  <a:srgbClr val="E0E4E6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L'exploitation des données de santé devient essentielle pour des soins plus personnalisés.</a:t>
            </a:r>
            <a:endParaRPr lang="en-US" sz="17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30897" y="0"/>
            <a:ext cx="14630400" cy="8229600"/>
          </a:xfrm>
          <a:prstGeom prst="rect">
            <a:avLst/>
          </a:prstGeom>
          <a:solidFill>
            <a:srgbClr val="0A081B">
              <a:alpha val="75000"/>
            </a:srgbClr>
          </a:solidFill>
          <a:ln/>
        </p:spPr>
        <p:txBody>
          <a:bodyPr/>
          <a:lstStyle/>
          <a:p>
            <a:endParaRPr lang="fr-FR" dirty="0"/>
          </a:p>
        </p:txBody>
      </p:sp>
      <p:pic>
        <p:nvPicPr>
          <p:cNvPr id="4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3657600" cy="8229600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4490799" y="934760"/>
            <a:ext cx="7922181" cy="694373"/>
          </a:xfrm>
          <a:prstGeom prst="rect">
            <a:avLst/>
          </a:prstGeom>
          <a:noFill/>
          <a:ln/>
        </p:spPr>
        <p:txBody>
          <a:bodyPr wrap="none" rtlCol="0" anchor="t"/>
          <a:lstStyle/>
          <a:p>
            <a:pPr marL="0" indent="0">
              <a:lnSpc>
                <a:spcPts val="5468"/>
              </a:lnSpc>
              <a:buNone/>
            </a:pPr>
            <a:r>
              <a:rPr lang="en-US" sz="4374" b="1" dirty="0">
                <a:solidFill>
                  <a:srgbClr val="F0FCFF"/>
                </a:solidFill>
                <a:latin typeface="Spline Sans" pitchFamily="34" charset="0"/>
                <a:ea typeface="Spline Sans" pitchFamily="34" charset="-122"/>
                <a:cs typeface="Spline Sans" pitchFamily="34" charset="-120"/>
              </a:rPr>
              <a:t>Défis technologiques à relever</a:t>
            </a:r>
            <a:endParaRPr lang="en-US" sz="4374" dirty="0"/>
          </a:p>
        </p:txBody>
      </p:sp>
      <p:pic>
        <p:nvPicPr>
          <p:cNvPr id="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90799" y="1962388"/>
            <a:ext cx="1110972" cy="1777484"/>
          </a:xfrm>
          <a:prstGeom prst="rect">
            <a:avLst/>
          </a:prstGeom>
        </p:spPr>
      </p:pic>
      <p:sp>
        <p:nvSpPr>
          <p:cNvPr id="7" name="Text 2"/>
          <p:cNvSpPr/>
          <p:nvPr/>
        </p:nvSpPr>
        <p:spPr>
          <a:xfrm>
            <a:off x="5935028" y="2184559"/>
            <a:ext cx="2822138" cy="347186"/>
          </a:xfrm>
          <a:prstGeom prst="rect">
            <a:avLst/>
          </a:prstGeom>
          <a:noFill/>
          <a:ln/>
        </p:spPr>
        <p:txBody>
          <a:bodyPr wrap="none" rtlCol="0" anchor="t"/>
          <a:lstStyle/>
          <a:p>
            <a:pPr marL="0" indent="0" algn="l">
              <a:lnSpc>
                <a:spcPts val="2734"/>
              </a:lnSpc>
              <a:buNone/>
            </a:pPr>
            <a:r>
              <a:rPr lang="en-US" sz="2187" b="1" dirty="0">
                <a:solidFill>
                  <a:srgbClr val="16FFBB"/>
                </a:solidFill>
                <a:latin typeface="Spline Sans" pitchFamily="34" charset="0"/>
                <a:ea typeface="Spline Sans" pitchFamily="34" charset="-122"/>
                <a:cs typeface="Spline Sans" pitchFamily="34" charset="-120"/>
              </a:rPr>
              <a:t>Sécurité des Données</a:t>
            </a:r>
            <a:endParaRPr lang="en-US" sz="2187" dirty="0"/>
          </a:p>
        </p:txBody>
      </p:sp>
      <p:sp>
        <p:nvSpPr>
          <p:cNvPr id="8" name="Text 3"/>
          <p:cNvSpPr/>
          <p:nvPr/>
        </p:nvSpPr>
        <p:spPr>
          <a:xfrm>
            <a:off x="5935028" y="2664976"/>
            <a:ext cx="7862173" cy="355402"/>
          </a:xfrm>
          <a:prstGeom prst="rect">
            <a:avLst/>
          </a:prstGeom>
          <a:noFill/>
          <a:ln/>
        </p:spPr>
        <p:txBody>
          <a:bodyPr wrap="none" rtlCol="0" anchor="t"/>
          <a:lstStyle/>
          <a:p>
            <a:pPr marL="0" indent="0" algn="l">
              <a:lnSpc>
                <a:spcPts val="2799"/>
              </a:lnSpc>
              <a:buNone/>
            </a:pPr>
            <a:r>
              <a:rPr lang="en-US" sz="1750" dirty="0">
                <a:solidFill>
                  <a:srgbClr val="E0E4E6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Assurer la confidentialité et la protection des données de santé des patients.</a:t>
            </a:r>
            <a:endParaRPr lang="en-US" sz="1750" dirty="0"/>
          </a:p>
        </p:txBody>
      </p:sp>
      <p:pic>
        <p:nvPicPr>
          <p:cNvPr id="9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90799" y="3739872"/>
            <a:ext cx="1110972" cy="1777484"/>
          </a:xfrm>
          <a:prstGeom prst="rect">
            <a:avLst/>
          </a:prstGeom>
        </p:spPr>
      </p:pic>
      <p:sp>
        <p:nvSpPr>
          <p:cNvPr id="10" name="Text 4"/>
          <p:cNvSpPr/>
          <p:nvPr/>
        </p:nvSpPr>
        <p:spPr>
          <a:xfrm>
            <a:off x="5935028" y="3962043"/>
            <a:ext cx="3319105" cy="347186"/>
          </a:xfrm>
          <a:prstGeom prst="rect">
            <a:avLst/>
          </a:prstGeom>
          <a:noFill/>
          <a:ln/>
        </p:spPr>
        <p:txBody>
          <a:bodyPr wrap="none" rtlCol="0" anchor="t"/>
          <a:lstStyle/>
          <a:p>
            <a:pPr marL="0" indent="0" algn="l">
              <a:lnSpc>
                <a:spcPts val="2734"/>
              </a:lnSpc>
              <a:buNone/>
            </a:pPr>
            <a:r>
              <a:rPr lang="en-US" sz="2187" b="1" dirty="0">
                <a:solidFill>
                  <a:srgbClr val="29DDDA"/>
                </a:solidFill>
                <a:latin typeface="Spline Sans" pitchFamily="34" charset="0"/>
                <a:ea typeface="Spline Sans" pitchFamily="34" charset="-122"/>
                <a:cs typeface="Spline Sans" pitchFamily="34" charset="-120"/>
              </a:rPr>
              <a:t>Intégration des Systèmes</a:t>
            </a:r>
            <a:endParaRPr lang="en-US" sz="2187" dirty="0"/>
          </a:p>
        </p:txBody>
      </p:sp>
      <p:sp>
        <p:nvSpPr>
          <p:cNvPr id="11" name="Text 5"/>
          <p:cNvSpPr/>
          <p:nvPr/>
        </p:nvSpPr>
        <p:spPr>
          <a:xfrm>
            <a:off x="5935028" y="4442460"/>
            <a:ext cx="7862173" cy="355402"/>
          </a:xfrm>
          <a:prstGeom prst="rect">
            <a:avLst/>
          </a:prstGeom>
          <a:noFill/>
          <a:ln/>
        </p:spPr>
        <p:txBody>
          <a:bodyPr wrap="none" rtlCol="0" anchor="t"/>
          <a:lstStyle/>
          <a:p>
            <a:pPr marL="0" indent="0" algn="l">
              <a:lnSpc>
                <a:spcPts val="2799"/>
              </a:lnSpc>
              <a:buNone/>
            </a:pPr>
            <a:r>
              <a:rPr lang="en-US" sz="1750" dirty="0">
                <a:solidFill>
                  <a:srgbClr val="E0E4E6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Faciliter l'interopérabilité entre les différents outils et les systèmes existants.</a:t>
            </a:r>
            <a:endParaRPr lang="en-US" sz="1750" dirty="0"/>
          </a:p>
        </p:txBody>
      </p:sp>
      <p:pic>
        <p:nvPicPr>
          <p:cNvPr id="12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490799" y="5517356"/>
            <a:ext cx="1110972" cy="1777484"/>
          </a:xfrm>
          <a:prstGeom prst="rect">
            <a:avLst/>
          </a:prstGeom>
        </p:spPr>
      </p:pic>
      <p:sp>
        <p:nvSpPr>
          <p:cNvPr id="13" name="Text 6"/>
          <p:cNvSpPr/>
          <p:nvPr/>
        </p:nvSpPr>
        <p:spPr>
          <a:xfrm>
            <a:off x="5935028" y="5739527"/>
            <a:ext cx="4090868" cy="347186"/>
          </a:xfrm>
          <a:prstGeom prst="rect">
            <a:avLst/>
          </a:prstGeom>
          <a:noFill/>
          <a:ln/>
        </p:spPr>
        <p:txBody>
          <a:bodyPr wrap="none" rtlCol="0" anchor="t"/>
          <a:lstStyle/>
          <a:p>
            <a:pPr marL="0" indent="0" algn="l">
              <a:lnSpc>
                <a:spcPts val="2734"/>
              </a:lnSpc>
              <a:buNone/>
            </a:pPr>
            <a:r>
              <a:rPr lang="en-US" sz="2187" b="1" dirty="0">
                <a:solidFill>
                  <a:srgbClr val="37A7E7"/>
                </a:solidFill>
                <a:latin typeface="Spline Sans" pitchFamily="34" charset="0"/>
                <a:ea typeface="Spline Sans" pitchFamily="34" charset="-122"/>
                <a:cs typeface="Spline Sans" pitchFamily="34" charset="-120"/>
              </a:rPr>
              <a:t>Acceptation par les Utilisateurs</a:t>
            </a:r>
            <a:endParaRPr lang="en-US" sz="2187" dirty="0"/>
          </a:p>
        </p:txBody>
      </p:sp>
      <p:sp>
        <p:nvSpPr>
          <p:cNvPr id="14" name="Text 7"/>
          <p:cNvSpPr/>
          <p:nvPr/>
        </p:nvSpPr>
        <p:spPr>
          <a:xfrm>
            <a:off x="5935028" y="6219944"/>
            <a:ext cx="7862173" cy="71080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ts val="2799"/>
              </a:lnSpc>
              <a:buNone/>
            </a:pPr>
            <a:r>
              <a:rPr lang="en-US" sz="1750" dirty="0">
                <a:solidFill>
                  <a:srgbClr val="E0E4E6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Garantir une expérience utilisateur intuitive et engageante pour les patients et les professionnels.</a:t>
            </a:r>
            <a:endParaRPr lang="en-US" sz="17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0A081B">
              <a:alpha val="75000"/>
            </a:srgbClr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4" name="Text 1"/>
          <p:cNvSpPr/>
          <p:nvPr/>
        </p:nvSpPr>
        <p:spPr>
          <a:xfrm>
            <a:off x="2624376" y="1744742"/>
            <a:ext cx="9114949" cy="694373"/>
          </a:xfrm>
          <a:prstGeom prst="rect">
            <a:avLst/>
          </a:prstGeom>
          <a:noFill/>
          <a:ln/>
        </p:spPr>
        <p:txBody>
          <a:bodyPr wrap="none" rtlCol="0" anchor="t"/>
          <a:lstStyle/>
          <a:p>
            <a:pPr marL="0" indent="0">
              <a:lnSpc>
                <a:spcPts val="5468"/>
              </a:lnSpc>
              <a:buNone/>
            </a:pPr>
            <a:r>
              <a:rPr lang="en-US" sz="4374" b="1" dirty="0">
                <a:solidFill>
                  <a:srgbClr val="F0FCFF"/>
                </a:solidFill>
                <a:latin typeface="Spline Sans" pitchFamily="34" charset="0"/>
                <a:ea typeface="Spline Sans" pitchFamily="34" charset="-122"/>
                <a:cs typeface="Spline Sans" pitchFamily="34" charset="-120"/>
              </a:rPr>
              <a:t>Conclusion et perspectives futures</a:t>
            </a:r>
            <a:endParaRPr lang="en-US" sz="4374" dirty="0"/>
          </a:p>
        </p:txBody>
      </p:sp>
      <p:pic>
        <p:nvPicPr>
          <p:cNvPr id="5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24376" y="2883456"/>
            <a:ext cx="418981" cy="418981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2624376" y="3524607"/>
            <a:ext cx="2095381" cy="69437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ts val="2734"/>
              </a:lnSpc>
              <a:buNone/>
            </a:pPr>
            <a:r>
              <a:rPr lang="en-US" sz="2187" b="1" dirty="0">
                <a:solidFill>
                  <a:srgbClr val="16FFBB"/>
                </a:solidFill>
                <a:latin typeface="Spline Sans" pitchFamily="34" charset="0"/>
                <a:ea typeface="Spline Sans" pitchFamily="34" charset="-122"/>
                <a:cs typeface="Spline Sans" pitchFamily="34" charset="-120"/>
              </a:rPr>
              <a:t>Innovation continue</a:t>
            </a:r>
            <a:endParaRPr lang="en-US" sz="2187" dirty="0"/>
          </a:p>
        </p:txBody>
      </p:sp>
      <p:sp>
        <p:nvSpPr>
          <p:cNvPr id="7" name="Text 3"/>
          <p:cNvSpPr/>
          <p:nvPr/>
        </p:nvSpPr>
        <p:spPr>
          <a:xfrm>
            <a:off x="2624376" y="4352211"/>
            <a:ext cx="2095381" cy="17770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ts val="2799"/>
              </a:lnSpc>
              <a:buNone/>
            </a:pPr>
            <a:r>
              <a:rPr lang="en-US" sz="1750" dirty="0">
                <a:solidFill>
                  <a:srgbClr val="E0E4E6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Vigicare reste à l'avant-garde des technologies de santé pour offrir des solutions de pointe.</a:t>
            </a:r>
            <a:endParaRPr lang="en-US" sz="1750" dirty="0"/>
          </a:p>
        </p:txBody>
      </p:sp>
      <p:pic>
        <p:nvPicPr>
          <p:cNvPr id="8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53012" y="2883456"/>
            <a:ext cx="419100" cy="419100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5053012" y="3524726"/>
            <a:ext cx="2095500" cy="69437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ts val="2734"/>
              </a:lnSpc>
              <a:buNone/>
            </a:pPr>
            <a:r>
              <a:rPr lang="en-US" sz="2187" b="1" dirty="0">
                <a:solidFill>
                  <a:srgbClr val="29DDDA"/>
                </a:solidFill>
                <a:latin typeface="Spline Sans" pitchFamily="34" charset="0"/>
                <a:ea typeface="Spline Sans" pitchFamily="34" charset="-122"/>
                <a:cs typeface="Spline Sans" pitchFamily="34" charset="-120"/>
              </a:rPr>
              <a:t>Expérience Patient</a:t>
            </a:r>
            <a:endParaRPr lang="en-US" sz="2187" dirty="0"/>
          </a:p>
        </p:txBody>
      </p:sp>
      <p:sp>
        <p:nvSpPr>
          <p:cNvPr id="10" name="Text 5"/>
          <p:cNvSpPr/>
          <p:nvPr/>
        </p:nvSpPr>
        <p:spPr>
          <a:xfrm>
            <a:off x="5053012" y="4352330"/>
            <a:ext cx="2095500" cy="17770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ts val="2799"/>
              </a:lnSpc>
              <a:buNone/>
            </a:pPr>
            <a:r>
              <a:rPr lang="en-US" sz="1750" dirty="0">
                <a:solidFill>
                  <a:srgbClr val="E0E4E6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L'amélioration constante de l'expérience patient est au cœur de la stratégie de Vigicare.</a:t>
            </a:r>
            <a:endParaRPr lang="en-US" sz="1750" dirty="0"/>
          </a:p>
        </p:txBody>
      </p:sp>
      <p:pic>
        <p:nvPicPr>
          <p:cNvPr id="11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81768" y="2883456"/>
            <a:ext cx="419100" cy="419100"/>
          </a:xfrm>
          <a:prstGeom prst="rect">
            <a:avLst/>
          </a:prstGeom>
        </p:spPr>
      </p:pic>
      <p:sp>
        <p:nvSpPr>
          <p:cNvPr id="12" name="Text 6"/>
          <p:cNvSpPr/>
          <p:nvPr/>
        </p:nvSpPr>
        <p:spPr>
          <a:xfrm>
            <a:off x="7481768" y="3524726"/>
            <a:ext cx="2095500" cy="69437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ts val="2734"/>
              </a:lnSpc>
              <a:buNone/>
            </a:pPr>
            <a:r>
              <a:rPr lang="en-US" sz="2187" b="1" dirty="0">
                <a:solidFill>
                  <a:srgbClr val="37A7E7"/>
                </a:solidFill>
                <a:latin typeface="Spline Sans" pitchFamily="34" charset="0"/>
                <a:ea typeface="Spline Sans" pitchFamily="34" charset="-122"/>
                <a:cs typeface="Spline Sans" pitchFamily="34" charset="-120"/>
              </a:rPr>
              <a:t>Données et Intelligence</a:t>
            </a:r>
            <a:endParaRPr lang="en-US" sz="2187" dirty="0"/>
          </a:p>
        </p:txBody>
      </p:sp>
      <p:sp>
        <p:nvSpPr>
          <p:cNvPr id="13" name="Text 7"/>
          <p:cNvSpPr/>
          <p:nvPr/>
        </p:nvSpPr>
        <p:spPr>
          <a:xfrm>
            <a:off x="7481768" y="4352330"/>
            <a:ext cx="2095500" cy="2132409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ts val="2799"/>
              </a:lnSpc>
              <a:buNone/>
            </a:pPr>
            <a:r>
              <a:rPr lang="en-US" sz="1750" dirty="0">
                <a:solidFill>
                  <a:srgbClr val="E0E4E6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L'analyse avancée des données permettra des soins encore plus personnalisés et prédictifs.</a:t>
            </a:r>
            <a:endParaRPr lang="en-US" sz="1750" dirty="0"/>
          </a:p>
        </p:txBody>
      </p:sp>
      <p:pic>
        <p:nvPicPr>
          <p:cNvPr id="14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910524" y="2883456"/>
            <a:ext cx="419100" cy="419100"/>
          </a:xfrm>
          <a:prstGeom prst="rect">
            <a:avLst/>
          </a:prstGeom>
        </p:spPr>
      </p:pic>
      <p:sp>
        <p:nvSpPr>
          <p:cNvPr id="15" name="Text 8"/>
          <p:cNvSpPr/>
          <p:nvPr/>
        </p:nvSpPr>
        <p:spPr>
          <a:xfrm>
            <a:off x="9910524" y="3524726"/>
            <a:ext cx="2095500" cy="69437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ts val="2734"/>
              </a:lnSpc>
              <a:buNone/>
            </a:pPr>
            <a:r>
              <a:rPr lang="en-US" sz="2187" b="1" dirty="0">
                <a:solidFill>
                  <a:srgbClr val="5372DF"/>
                </a:solidFill>
                <a:latin typeface="Spline Sans" pitchFamily="34" charset="0"/>
                <a:ea typeface="Spline Sans" pitchFamily="34" charset="-122"/>
                <a:cs typeface="Spline Sans" pitchFamily="34" charset="-120"/>
              </a:rPr>
              <a:t>Partenariats Stratégiques</a:t>
            </a:r>
            <a:endParaRPr lang="en-US" sz="2187" dirty="0"/>
          </a:p>
        </p:txBody>
      </p:sp>
      <p:sp>
        <p:nvSpPr>
          <p:cNvPr id="16" name="Text 9"/>
          <p:cNvSpPr/>
          <p:nvPr/>
        </p:nvSpPr>
        <p:spPr>
          <a:xfrm>
            <a:off x="9910524" y="4352330"/>
            <a:ext cx="2095500" cy="2132409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ts val="2799"/>
              </a:lnSpc>
              <a:buNone/>
            </a:pPr>
            <a:r>
              <a:rPr lang="en-US" sz="1750" dirty="0">
                <a:solidFill>
                  <a:srgbClr val="E0E4E6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Vigicare développe des collaborations pour accélérer l'adoption de ses technologies innovantes.</a:t>
            </a:r>
            <a:endParaRPr lang="en-US" sz="17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0A081B">
              <a:alpha val="75000"/>
            </a:srgbClr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4" name="Text 1"/>
          <p:cNvSpPr/>
          <p:nvPr/>
        </p:nvSpPr>
        <p:spPr>
          <a:xfrm>
            <a:off x="2624376" y="2220992"/>
            <a:ext cx="5554980" cy="694373"/>
          </a:xfrm>
          <a:prstGeom prst="rect">
            <a:avLst/>
          </a:prstGeom>
          <a:noFill/>
          <a:ln/>
        </p:spPr>
        <p:txBody>
          <a:bodyPr wrap="none" rtlCol="0" anchor="t"/>
          <a:lstStyle/>
          <a:p>
            <a:pPr marL="0" indent="0">
              <a:lnSpc>
                <a:spcPts val="5468"/>
              </a:lnSpc>
              <a:buNone/>
            </a:pPr>
            <a:r>
              <a:rPr lang="en-US" sz="4374" b="1" dirty="0">
                <a:solidFill>
                  <a:srgbClr val="F0FCFF"/>
                </a:solidFill>
                <a:latin typeface="Spline Sans" pitchFamily="34" charset="0"/>
                <a:ea typeface="Spline Sans" pitchFamily="34" charset="-122"/>
                <a:cs typeface="Spline Sans" pitchFamily="34" charset="-120"/>
              </a:rPr>
              <a:t>Sources</a:t>
            </a:r>
            <a:endParaRPr lang="en-US" sz="4374" dirty="0"/>
          </a:p>
        </p:txBody>
      </p:sp>
      <p:sp>
        <p:nvSpPr>
          <p:cNvPr id="5" name="Text 2"/>
          <p:cNvSpPr/>
          <p:nvPr/>
        </p:nvSpPr>
        <p:spPr>
          <a:xfrm>
            <a:off x="2624376" y="3359706"/>
            <a:ext cx="9381649" cy="71080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2799"/>
              </a:lnSpc>
              <a:buNone/>
            </a:pPr>
            <a:r>
              <a:rPr lang="en-US" sz="1750" dirty="0">
                <a:solidFill>
                  <a:srgbClr val="E0E4E6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Les informations présentées dans cette veille technologique proviennent de diverses sources fiables, notamment :</a:t>
            </a:r>
            <a:endParaRPr lang="en-US" sz="1750" dirty="0"/>
          </a:p>
        </p:txBody>
      </p:sp>
      <p:sp>
        <p:nvSpPr>
          <p:cNvPr id="6" name="Text 3"/>
          <p:cNvSpPr/>
          <p:nvPr/>
        </p:nvSpPr>
        <p:spPr>
          <a:xfrm>
            <a:off x="2979777" y="4320421"/>
            <a:ext cx="9026247" cy="355402"/>
          </a:xfrm>
          <a:prstGeom prst="rect">
            <a:avLst/>
          </a:prstGeom>
          <a:noFill/>
          <a:ln/>
        </p:spPr>
        <p:txBody>
          <a:bodyPr wrap="none" rtlCol="0" anchor="t"/>
          <a:lstStyle/>
          <a:p>
            <a:pPr marL="342900" indent="-342900" algn="l">
              <a:lnSpc>
                <a:spcPts val="2799"/>
              </a:lnSpc>
              <a:buSzPct val="100000"/>
              <a:buChar char="•"/>
            </a:pPr>
            <a:r>
              <a:rPr lang="en-US" sz="1750" u="sng" dirty="0">
                <a:solidFill>
                  <a:srgbClr val="16FFBB"/>
                </a:solidFill>
                <a:latin typeface="Barlow" pitchFamily="34" charset="0"/>
                <a:ea typeface="Barlow" pitchFamily="34" charset="-122"/>
                <a:cs typeface="Barlow" pitchFamily="34" charset="-12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Healthcare IT Today</a:t>
            </a:r>
            <a:endParaRPr lang="en-US" sz="1750" dirty="0"/>
          </a:p>
        </p:txBody>
      </p:sp>
      <p:sp>
        <p:nvSpPr>
          <p:cNvPr id="7" name="Text 4"/>
          <p:cNvSpPr/>
          <p:nvPr/>
        </p:nvSpPr>
        <p:spPr>
          <a:xfrm>
            <a:off x="2979777" y="4764643"/>
            <a:ext cx="9026247" cy="355402"/>
          </a:xfrm>
          <a:prstGeom prst="rect">
            <a:avLst/>
          </a:prstGeom>
          <a:noFill/>
          <a:ln/>
        </p:spPr>
        <p:txBody>
          <a:bodyPr wrap="none" rtlCol="0" anchor="t"/>
          <a:lstStyle/>
          <a:p>
            <a:pPr marL="342900" indent="-342900" algn="l">
              <a:lnSpc>
                <a:spcPts val="2799"/>
              </a:lnSpc>
              <a:buSzPct val="100000"/>
              <a:buChar char="•"/>
            </a:pPr>
            <a:r>
              <a:rPr lang="en-US" sz="1750" u="sng" dirty="0">
                <a:solidFill>
                  <a:srgbClr val="16FFBB"/>
                </a:solidFill>
                <a:latin typeface="Barlow" pitchFamily="34" charset="0"/>
                <a:ea typeface="Barlow" pitchFamily="34" charset="-122"/>
                <a:cs typeface="Barlow" pitchFamily="34" charset="-120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McKinsey &amp; Company</a:t>
            </a:r>
            <a:endParaRPr lang="en-US" sz="1750" dirty="0"/>
          </a:p>
        </p:txBody>
      </p:sp>
      <p:sp>
        <p:nvSpPr>
          <p:cNvPr id="8" name="Text 5"/>
          <p:cNvSpPr/>
          <p:nvPr/>
        </p:nvSpPr>
        <p:spPr>
          <a:xfrm>
            <a:off x="2979777" y="5208865"/>
            <a:ext cx="9026247" cy="355402"/>
          </a:xfrm>
          <a:prstGeom prst="rect">
            <a:avLst/>
          </a:prstGeom>
          <a:noFill/>
          <a:ln/>
        </p:spPr>
        <p:txBody>
          <a:bodyPr wrap="none" rtlCol="0" anchor="t"/>
          <a:lstStyle/>
          <a:p>
            <a:pPr marL="342900" indent="-342900" algn="l">
              <a:lnSpc>
                <a:spcPts val="2799"/>
              </a:lnSpc>
              <a:buSzPct val="100000"/>
              <a:buChar char="•"/>
            </a:pPr>
            <a:r>
              <a:rPr lang="en-US" sz="1750" u="sng" dirty="0">
                <a:solidFill>
                  <a:srgbClr val="16FFBB"/>
                </a:solidFill>
                <a:latin typeface="Barlow" pitchFamily="34" charset="0"/>
                <a:ea typeface="Barlow" pitchFamily="34" charset="-122"/>
                <a:cs typeface="Barlow" pitchFamily="34" charset="-120"/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Gartner</a:t>
            </a:r>
            <a:endParaRPr lang="en-US" sz="1750" dirty="0"/>
          </a:p>
        </p:txBody>
      </p:sp>
      <p:sp>
        <p:nvSpPr>
          <p:cNvPr id="9" name="Text 6"/>
          <p:cNvSpPr/>
          <p:nvPr/>
        </p:nvSpPr>
        <p:spPr>
          <a:xfrm>
            <a:off x="2979777" y="5653088"/>
            <a:ext cx="9026247" cy="355402"/>
          </a:xfrm>
          <a:prstGeom prst="rect">
            <a:avLst/>
          </a:prstGeom>
          <a:noFill/>
          <a:ln/>
        </p:spPr>
        <p:txBody>
          <a:bodyPr wrap="none" rtlCol="0" anchor="t"/>
          <a:lstStyle/>
          <a:p>
            <a:pPr marL="342900" indent="-342900" algn="l">
              <a:lnSpc>
                <a:spcPts val="2799"/>
              </a:lnSpc>
              <a:buSzPct val="100000"/>
              <a:buChar char="•"/>
            </a:pPr>
            <a:r>
              <a:rPr lang="en-US" sz="1750" dirty="0">
                <a:solidFill>
                  <a:srgbClr val="E0E4E6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Forbes</a:t>
            </a:r>
            <a:endParaRPr lang="en-US" sz="1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678</Words>
  <Application>Microsoft Office PowerPoint</Application>
  <PresentationFormat>Personnalisé</PresentationFormat>
  <Paragraphs>89</Paragraphs>
  <Slides>10</Slides>
  <Notes>10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10</vt:i4>
      </vt:variant>
    </vt:vector>
  </HeadingPairs>
  <TitlesOfParts>
    <vt:vector size="14" baseType="lpstr">
      <vt:lpstr>Arial</vt:lpstr>
      <vt:lpstr>Barlow</vt:lpstr>
      <vt:lpstr>Spline Sans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ayoub el mahi</cp:lastModifiedBy>
  <cp:revision>3</cp:revision>
  <dcterms:created xsi:type="dcterms:W3CDTF">2024-04-07T12:34:48Z</dcterms:created>
  <dcterms:modified xsi:type="dcterms:W3CDTF">2024-04-10T12:33:11Z</dcterms:modified>
</cp:coreProperties>
</file>